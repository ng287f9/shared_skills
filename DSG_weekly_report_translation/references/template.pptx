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14"/>
  </p:notesMasterIdLst>
  <p:handoutMasterIdLst>
    <p:handoutMasterId r:id="rId15"/>
  </p:handoutMasterIdLst>
  <p:sldIdLst>
    <p:sldId id="1077" r:id="rId5"/>
    <p:sldId id="1013" r:id="rId6"/>
    <p:sldId id="1087" r:id="rId7"/>
    <p:sldId id="1015" r:id="rId8"/>
    <p:sldId id="1051" r:id="rId9"/>
    <p:sldId id="1091" r:id="rId10"/>
    <p:sldId id="1088" r:id="rId11"/>
    <p:sldId id="1089" r:id="rId12"/>
    <p:sldId id="1090" r:id="rId13"/>
  </p:sldIdLst>
  <p:sldSz cx="12192000" cy="6858000"/>
  <p:notesSz cx="6797675" cy="9926638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70EC97-8F33-AE61-7EFC-C03FDDA2BFD2}" name="Manuel Maier" initials="" userId="S::Manuel.Maier@dornierseawings.com::5bd49b4d-c3d4-410e-bc49-574d97888822" providerId="AD"/>
  <p188:author id="{2F0667B7-C1FE-F60A-4F2B-B27ADFD2F33A}" name="Kaschub, Christian" initials="CK" userId="Kaschub, Christia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C5D26-F8BA-49D7-8EEA-1BEA2C79D954}" v="23" dt="2026-07-07T00:46:15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6070"/>
  </p:normalViewPr>
  <p:slideViewPr>
    <p:cSldViewPr snapToGrid="0">
      <p:cViewPr varScale="1">
        <p:scale>
          <a:sx n="159" d="100"/>
          <a:sy n="159" d="100"/>
        </p:scale>
        <p:origin x="22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58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u, Yu" userId="916b23db-968b-4c5d-bd5e-99147e50dec6" providerId="ADAL" clId="{BDB37EE6-367C-4A3D-B98E-D36EB80BD9C3}"/>
    <pc:docChg chg="undo redo custSel addSld modSld">
      <pc:chgData name="Zhou, Yu" userId="916b23db-968b-4c5d-bd5e-99147e50dec6" providerId="ADAL" clId="{BDB37EE6-367C-4A3D-B98E-D36EB80BD9C3}" dt="2026-07-07T00:50:10.986" v="81" actId="947"/>
      <pc:docMkLst>
        <pc:docMk/>
      </pc:docMkLst>
      <pc:sldChg chg="modSp mod">
        <pc:chgData name="Zhou, Yu" userId="916b23db-968b-4c5d-bd5e-99147e50dec6" providerId="ADAL" clId="{BDB37EE6-367C-4A3D-B98E-D36EB80BD9C3}" dt="2026-07-07T00:49:37.021" v="77" actId="947"/>
        <pc:sldMkLst>
          <pc:docMk/>
          <pc:sldMk cId="431058595" sldId="1051"/>
        </pc:sldMkLst>
        <pc:graphicFrameChg chg="modGraphic">
          <ac:chgData name="Zhou, Yu" userId="916b23db-968b-4c5d-bd5e-99147e50dec6" providerId="ADAL" clId="{BDB37EE6-367C-4A3D-B98E-D36EB80BD9C3}" dt="2026-07-07T00:49:37.021" v="77" actId="947"/>
          <ac:graphicFrameMkLst>
            <pc:docMk/>
            <pc:sldMk cId="431058595" sldId="1051"/>
            <ac:graphicFrameMk id="3" creationId="{C4D540CC-7987-0669-FA9B-EC7AB961A36D}"/>
          </ac:graphicFrameMkLst>
        </pc:graphicFrameChg>
        <pc:graphicFrameChg chg="mod modGraphic">
          <ac:chgData name="Zhou, Yu" userId="916b23db-968b-4c5d-bd5e-99147e50dec6" providerId="ADAL" clId="{BDB37EE6-367C-4A3D-B98E-D36EB80BD9C3}" dt="2026-07-07T00:49:11.797" v="74" actId="113"/>
          <ac:graphicFrameMkLst>
            <pc:docMk/>
            <pc:sldMk cId="431058595" sldId="1051"/>
            <ac:graphicFrameMk id="7" creationId="{00000000-0000-0000-0000-000000000000}"/>
          </ac:graphicFrameMkLst>
        </pc:graphicFrameChg>
        <pc:graphicFrameChg chg="modGraphic">
          <ac:chgData name="Zhou, Yu" userId="916b23db-968b-4c5d-bd5e-99147e50dec6" providerId="ADAL" clId="{BDB37EE6-367C-4A3D-B98E-D36EB80BD9C3}" dt="2026-07-07T00:49:21.633" v="75" actId="947"/>
          <ac:graphicFrameMkLst>
            <pc:docMk/>
            <pc:sldMk cId="431058595" sldId="1051"/>
            <ac:graphicFrameMk id="9" creationId="{00000000-0000-0000-0000-000000000000}"/>
          </ac:graphicFrameMkLst>
        </pc:graphicFrameChg>
        <pc:graphicFrameChg chg="modGraphic">
          <ac:chgData name="Zhou, Yu" userId="916b23db-968b-4c5d-bd5e-99147e50dec6" providerId="ADAL" clId="{BDB37EE6-367C-4A3D-B98E-D36EB80BD9C3}" dt="2026-07-07T00:49:31.903" v="76" actId="947"/>
          <ac:graphicFrameMkLst>
            <pc:docMk/>
            <pc:sldMk cId="431058595" sldId="1051"/>
            <ac:graphicFrameMk id="11" creationId="{00000000-0000-0000-0000-000000000000}"/>
          </ac:graphicFrameMkLst>
        </pc:graphicFrameChg>
      </pc:sldChg>
      <pc:sldChg chg="modSp mod">
        <pc:chgData name="Zhou, Yu" userId="916b23db-968b-4c5d-bd5e-99147e50dec6" providerId="ADAL" clId="{BDB37EE6-367C-4A3D-B98E-D36EB80BD9C3}" dt="2026-07-07T00:49:56.428" v="79" actId="947"/>
        <pc:sldMkLst>
          <pc:docMk/>
          <pc:sldMk cId="173607582" sldId="1088"/>
        </pc:sldMkLst>
        <pc:graphicFrameChg chg="mod modGraphic">
          <ac:chgData name="Zhou, Yu" userId="916b23db-968b-4c5d-bd5e-99147e50dec6" providerId="ADAL" clId="{BDB37EE6-367C-4A3D-B98E-D36EB80BD9C3}" dt="2026-07-07T00:49:56.428" v="79" actId="947"/>
          <ac:graphicFrameMkLst>
            <pc:docMk/>
            <pc:sldMk cId="173607582" sldId="1088"/>
            <ac:graphicFrameMk id="11" creationId="{8515AB48-97B2-9E03-6509-FF11651ABA4E}"/>
          </ac:graphicFrameMkLst>
        </pc:graphicFrameChg>
      </pc:sldChg>
      <pc:sldChg chg="modSp mod">
        <pc:chgData name="Zhou, Yu" userId="916b23db-968b-4c5d-bd5e-99147e50dec6" providerId="ADAL" clId="{BDB37EE6-367C-4A3D-B98E-D36EB80BD9C3}" dt="2026-07-07T00:50:03.018" v="80" actId="947"/>
        <pc:sldMkLst>
          <pc:docMk/>
          <pc:sldMk cId="75843680" sldId="1089"/>
        </pc:sldMkLst>
        <pc:graphicFrameChg chg="mod modGraphic">
          <ac:chgData name="Zhou, Yu" userId="916b23db-968b-4c5d-bd5e-99147e50dec6" providerId="ADAL" clId="{BDB37EE6-367C-4A3D-B98E-D36EB80BD9C3}" dt="2026-07-07T00:50:03.018" v="80" actId="947"/>
          <ac:graphicFrameMkLst>
            <pc:docMk/>
            <pc:sldMk cId="75843680" sldId="1089"/>
            <ac:graphicFrameMk id="2" creationId="{00000000-0000-0000-0000-000000000000}"/>
          </ac:graphicFrameMkLst>
        </pc:graphicFrameChg>
      </pc:sldChg>
      <pc:sldChg chg="modSp mod">
        <pc:chgData name="Zhou, Yu" userId="916b23db-968b-4c5d-bd5e-99147e50dec6" providerId="ADAL" clId="{BDB37EE6-367C-4A3D-B98E-D36EB80BD9C3}" dt="2026-07-07T00:50:10.986" v="81" actId="947"/>
        <pc:sldMkLst>
          <pc:docMk/>
          <pc:sldMk cId="117451523" sldId="1090"/>
        </pc:sldMkLst>
        <pc:graphicFrameChg chg="mod modGraphic">
          <ac:chgData name="Zhou, Yu" userId="916b23db-968b-4c5d-bd5e-99147e50dec6" providerId="ADAL" clId="{BDB37EE6-367C-4A3D-B98E-D36EB80BD9C3}" dt="2026-07-07T00:50:10.986" v="81" actId="947"/>
          <ac:graphicFrameMkLst>
            <pc:docMk/>
            <pc:sldMk cId="117451523" sldId="1090"/>
            <ac:graphicFrameMk id="4" creationId="{09CB7157-7A98-A840-9289-82D06DD3402C}"/>
          </ac:graphicFrameMkLst>
        </pc:graphicFrameChg>
      </pc:sldChg>
      <pc:sldChg chg="modSp add mod">
        <pc:chgData name="Zhou, Yu" userId="916b23db-968b-4c5d-bd5e-99147e50dec6" providerId="ADAL" clId="{BDB37EE6-367C-4A3D-B98E-D36EB80BD9C3}" dt="2026-07-07T00:49:49.049" v="78" actId="947"/>
        <pc:sldMkLst>
          <pc:docMk/>
          <pc:sldMk cId="2896742849" sldId="1091"/>
        </pc:sldMkLst>
        <pc:graphicFrameChg chg="mod modGraphic">
          <ac:chgData name="Zhou, Yu" userId="916b23db-968b-4c5d-bd5e-99147e50dec6" providerId="ADAL" clId="{BDB37EE6-367C-4A3D-B98E-D36EB80BD9C3}" dt="2026-07-07T00:49:49.049" v="78" actId="947"/>
          <ac:graphicFrameMkLst>
            <pc:docMk/>
            <pc:sldMk cId="2896742849" sldId="1091"/>
            <ac:graphicFrameMk id="11" creationId="{3BBDCF14-D103-9B77-854C-E06CF13A87C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400037-A5A5-2891-DD20-19D8474C20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04078-2A12-8916-A9F0-A59AC56A5D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112B7-7907-4345-A954-2B4D7646B5FB}" type="datetimeFigureOut">
              <a:rPr lang="x-none" altLang="zh-CN" smtClean="0"/>
              <a:t>2026/7/7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E80DB-CAD0-C116-835B-8D122405C3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87A7A-2A57-8D7E-7565-076967C30D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BD63B-3052-4B2C-863B-74B93C74437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305506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35496-07A2-4364-BCC8-BF9683267A7D}" type="datetimeFigureOut">
              <a:rPr lang="x-none" altLang="zh-CN" smtClean="0"/>
              <a:t>2026/7/7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5F914-02C1-4E24-962D-F2573BD3380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341622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x-none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05F914-02C1-4E24-962D-F2573BD33808}" type="slidenum">
              <a:rPr lang="x-none" smtClean="0">
                <a:solidFill>
                  <a:prstClr val="black"/>
                </a:solidFill>
              </a:rPr>
              <a:pPr/>
              <a:t>1</a:t>
            </a:fld>
            <a:endParaRPr lang="x-non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46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314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4841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99279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B8C5ED-28B6-4658-A296-8F8D9E029559}" type="slidenum">
              <a:rPr kumimoji="0" lang="de-DE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48E63-80B0-ACC4-8F6C-F7A60C2122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2051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50FA8-8EDD-1B73-C40E-68CCE65F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0F110-A36E-E129-9C22-8E6B5BD7B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8E17C-B5C7-23E9-E6EB-249F1B908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00126-16F2-2F5C-AC43-553DC259E7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E5C06-9025-3A3B-468F-5082FE466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9394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5874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11735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8DD0-87E9-675A-49CC-0DDE59C7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14623-D222-5448-00BB-827E0825D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EFE04-1C92-368E-1260-563033972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F914D-95BB-89BA-41E0-831AF52DF7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67CF8-A46F-9B59-C907-75B99D94E5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05F914-02C1-4E24-962D-F2573BD33808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43560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I:\Organisation\Offizielle Logos\Logo-Dornier-Seawings-25%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52" b="-452"/>
          <a:stretch/>
        </p:blipFill>
        <p:spPr bwMode="auto">
          <a:xfrm>
            <a:off x="466565" y="4562554"/>
            <a:ext cx="2749116" cy="128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3791744" y="4206686"/>
            <a:ext cx="8108149" cy="8640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>
              <a:defRPr sz="4000" b="1" baseline="0">
                <a:solidFill>
                  <a:srgbClr val="2D469A"/>
                </a:solidFill>
              </a:defRPr>
            </a:lvl1pPr>
          </a:lstStyle>
          <a:p>
            <a:r>
              <a:rPr lang="en-US"/>
              <a:t>Weekly Report</a:t>
            </a:r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791743" y="5156836"/>
            <a:ext cx="8108156" cy="5188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800" b="1" baseline="0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5552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1091101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636652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2180542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endParaRPr lang="en-GB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3791743" y="5675650"/>
            <a:ext cx="8108152" cy="5188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 baseline="0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5552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1091101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636652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2180542" indent="0" algn="r">
              <a:buNone/>
              <a:defRPr sz="2880" b="1">
                <a:solidFill>
                  <a:srgbClr val="2D46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endParaRPr lang="en-GB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2672"/>
            <a:ext cx="12197913" cy="369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6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99872" y="6366926"/>
            <a:ext cx="2844800" cy="432048"/>
          </a:xfrm>
          <a:prstGeom prst="rect">
            <a:avLst/>
          </a:prstGeom>
        </p:spPr>
        <p:txBody>
          <a:bodyPr/>
          <a:lstStyle/>
          <a:p>
            <a:fld id="{89E74D3A-5CBD-4698-9B26-291CF1C26BC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28" name="Picture 4" descr="D:\Aktive Dateien\Dornier Seawings\Presentations\2014_07_25_Master\Fusszeile\CD2 Fusszeile_5-Blatt-1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6315144"/>
            <a:ext cx="12192000" cy="57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11280576" y="6688175"/>
            <a:ext cx="911424" cy="184666"/>
          </a:xfrm>
          <a:prstGeom prst="rect">
            <a:avLst/>
          </a:prstGeom>
          <a:noFill/>
        </p:spPr>
        <p:txBody>
          <a:bodyPr wrap="square" rIns="64800" rtlCol="0">
            <a:spAutoFit/>
          </a:bodyPr>
          <a:lstStyle/>
          <a:p>
            <a:pPr>
              <a:buClrTx/>
              <a:buFontTx/>
              <a:buNone/>
            </a:pPr>
            <a:r>
              <a:rPr lang="de-DE" sz="600" kern="1200">
                <a:ea typeface="+mn-ea"/>
                <a:cs typeface="+mn-cs"/>
              </a:rPr>
              <a:t>QMF-160.005 H </a:t>
            </a:r>
            <a:endParaRPr lang="en-GB" sz="600" kern="1200">
              <a:ea typeface="+mn-ea"/>
              <a:cs typeface="+mn-cs"/>
            </a:endParaRPr>
          </a:p>
        </p:txBody>
      </p:sp>
      <p:sp>
        <p:nvSpPr>
          <p:cNvPr id="9" name="Foliennummernplatzhalter 2"/>
          <p:cNvSpPr txBox="1">
            <a:spLocks/>
          </p:cNvSpPr>
          <p:nvPr userDrawn="1"/>
        </p:nvSpPr>
        <p:spPr>
          <a:xfrm>
            <a:off x="9360363" y="6280517"/>
            <a:ext cx="2844800" cy="432048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de-DE"/>
            </a:defPPr>
            <a:lvl1pPr marL="0" algn="r" defTabSz="914400" rtl="0" eaLnBrk="1" latinLnBrk="0" hangingPunct="1">
              <a:defRPr sz="1000" b="1" kern="12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fld id="{89E74D3A-5CBD-4698-9B26-291CF1C26BCB}" type="slidenum">
              <a:rPr lang="en-GB" sz="1200" b="0" smtClean="0"/>
              <a:pPr>
                <a:buClrTx/>
                <a:buFontTx/>
                <a:buNone/>
              </a:pPr>
              <a:t>‹#›</a:t>
            </a:fld>
            <a:endParaRPr lang="en-GB" sz="1200" b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4434" y="68736"/>
            <a:ext cx="10466089" cy="544358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Box 9"/>
          <p:cNvSpPr txBox="1"/>
          <p:nvPr userDrawn="1"/>
        </p:nvSpPr>
        <p:spPr>
          <a:xfrm>
            <a:off x="3695732" y="6293581"/>
            <a:ext cx="4896544" cy="5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002060"/>
                </a:solidFill>
              </a:rPr>
              <a:t>Dornier Seastar CD2-200</a:t>
            </a:r>
          </a:p>
          <a:p>
            <a:pPr algn="ctr">
              <a:lnSpc>
                <a:spcPct val="150000"/>
              </a:lnSpc>
            </a:pPr>
            <a:r>
              <a:rPr lang="en-US" sz="1080" b="0" baseline="0">
                <a:solidFill>
                  <a:schemeClr val="bg1"/>
                </a:solidFill>
              </a:rPr>
              <a:t>Weekly Report cw26</a:t>
            </a:r>
            <a:endParaRPr lang="en-US" sz="1080" b="0">
              <a:solidFill>
                <a:schemeClr val="bg1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50181AD-606E-6160-C4C3-398467BD837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4434" y="836297"/>
            <a:ext cx="11523133" cy="5283944"/>
          </a:xfrm>
          <a:prstGeom prst="rect">
            <a:avLst/>
          </a:prstGeom>
        </p:spPr>
        <p:txBody>
          <a:bodyPr/>
          <a:lstStyle>
            <a:lvl1pPr marL="215266" indent="-215266">
              <a:buFont typeface="Wingdings" panose="05000000000000000000" pitchFamily="2" charset="2"/>
              <a:buChar char="§"/>
              <a:tabLst>
                <a:tab pos="215266" algn="l"/>
              </a:tabLst>
              <a:defRPr sz="2400">
                <a:solidFill>
                  <a:srgbClr val="002060"/>
                </a:solidFill>
              </a:defRPr>
            </a:lvl1pPr>
            <a:lvl2pPr marL="428626" indent="-213360"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2pPr>
            <a:lvl3pPr marL="643890" indent="-215266">
              <a:buFont typeface="Wingdings" panose="05000000000000000000" pitchFamily="2" charset="2"/>
              <a:buChar char="§"/>
              <a:defRPr sz="1800">
                <a:solidFill>
                  <a:srgbClr val="002060"/>
                </a:solidFill>
              </a:defRPr>
            </a:lvl3pPr>
            <a:lvl4pPr marL="859156" indent="-215266">
              <a:buFont typeface="Wingdings" panose="05000000000000000000" pitchFamily="2" charset="2"/>
              <a:buChar char="§"/>
              <a:tabLst/>
              <a:defRPr sz="1600">
                <a:solidFill>
                  <a:srgbClr val="002060"/>
                </a:solidFill>
              </a:defRPr>
            </a:lvl4pPr>
            <a:lvl5pPr marL="1078230" indent="-219076">
              <a:buFont typeface="Wingdings" panose="05000000000000000000" pitchFamily="2" charset="2"/>
              <a:buChar char="§"/>
              <a:tabLst/>
              <a:defRPr sz="1400">
                <a:solidFill>
                  <a:srgbClr val="002060"/>
                </a:solidFill>
              </a:defRPr>
            </a:lvl5pPr>
            <a:lvl6pPr marL="1293496" indent="-215266">
              <a:buFont typeface="Wingdings" panose="05000000000000000000" pitchFamily="2" charset="2"/>
              <a:buChar char="§"/>
              <a:defRPr sz="1400">
                <a:solidFill>
                  <a:srgbClr val="002060"/>
                </a:solidFill>
              </a:defRPr>
            </a:lvl6pPr>
            <a:lvl7pPr marL="1508760" indent="-215266">
              <a:buFont typeface="Wingdings" panose="05000000000000000000" pitchFamily="2" charset="2"/>
              <a:buChar char="§"/>
              <a:defRPr sz="1200">
                <a:solidFill>
                  <a:srgbClr val="002060"/>
                </a:solidFill>
              </a:defRPr>
            </a:lvl7pPr>
            <a:lvl8pPr marL="1722120" indent="-213360">
              <a:buFont typeface="Wingdings" panose="05000000000000000000" pitchFamily="2" charset="2"/>
              <a:buChar char="§"/>
              <a:defRPr sz="1100">
                <a:solidFill>
                  <a:srgbClr val="002060"/>
                </a:solidFill>
              </a:defRPr>
            </a:lvl8pPr>
            <a:lvl9pPr marL="1937386" indent="-215266">
              <a:buFont typeface="Wingdings" panose="05000000000000000000" pitchFamily="2" charset="2"/>
              <a:buChar char="§"/>
              <a:defRPr sz="1050">
                <a:solidFill>
                  <a:srgbClr val="00206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</a:t>
            </a:r>
          </a:p>
          <a:p>
            <a:pPr lvl="6"/>
            <a:r>
              <a:rPr lang="en-US"/>
              <a:t>Seventh</a:t>
            </a:r>
          </a:p>
          <a:p>
            <a:pPr lvl="7"/>
            <a:r>
              <a:rPr lang="en-US"/>
              <a:t>Eighth</a:t>
            </a:r>
          </a:p>
          <a:p>
            <a:pPr lvl="8"/>
            <a:r>
              <a:rPr lang="en-US"/>
              <a:t>Ninth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28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 userDrawn="1"/>
        </p:nvSpPr>
        <p:spPr>
          <a:xfrm>
            <a:off x="311279" y="5761141"/>
            <a:ext cx="11546288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sz="216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34" y="68736"/>
            <a:ext cx="10466089" cy="544358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99872" y="6366926"/>
            <a:ext cx="2844800" cy="432048"/>
          </a:xfrm>
          <a:prstGeom prst="rect">
            <a:avLst/>
          </a:prstGeom>
        </p:spPr>
        <p:txBody>
          <a:bodyPr/>
          <a:lstStyle/>
          <a:p>
            <a:fld id="{89E74D3A-5CBD-4698-9B26-291CF1C26BC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28" name="Picture 4" descr="D:\Aktive Dateien\Dornier Seawings\Presentations\2014_07_25_Master\Fusszeile\CD2 Fusszeile_5-Blatt-1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6315144"/>
            <a:ext cx="12192000" cy="57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11280576" y="6688175"/>
            <a:ext cx="911424" cy="184666"/>
          </a:xfrm>
          <a:prstGeom prst="rect">
            <a:avLst/>
          </a:prstGeom>
          <a:noFill/>
        </p:spPr>
        <p:txBody>
          <a:bodyPr wrap="square" rIns="64800" rtlCol="0">
            <a:spAutoFit/>
          </a:bodyPr>
          <a:lstStyle/>
          <a:p>
            <a:r>
              <a:rPr lang="de-DE" sz="600" baseline="0"/>
              <a:t>QMF-160.005 H </a:t>
            </a:r>
            <a:endParaRPr lang="en-GB" sz="600" baseline="0"/>
          </a:p>
        </p:txBody>
      </p:sp>
      <p:sp>
        <p:nvSpPr>
          <p:cNvPr id="8" name="Gleichschenkliges Dreieck 7"/>
          <p:cNvSpPr/>
          <p:nvPr userDrawn="1"/>
        </p:nvSpPr>
        <p:spPr bwMode="auto">
          <a:xfrm rot="5400000">
            <a:off x="292736" y="5762487"/>
            <a:ext cx="432000" cy="4320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496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765938" y="5762059"/>
            <a:ext cx="10706661" cy="432000"/>
          </a:xfrm>
          <a:prstGeom prst="rect">
            <a:avLst/>
          </a:prstGeom>
        </p:spPr>
        <p:txBody>
          <a:bodyPr lIns="36000" rIns="36000"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920">
                <a:solidFill>
                  <a:srgbClr val="002060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Foliennummernplatzhalter 2"/>
          <p:cNvSpPr txBox="1">
            <a:spLocks/>
          </p:cNvSpPr>
          <p:nvPr userDrawn="1"/>
        </p:nvSpPr>
        <p:spPr>
          <a:xfrm>
            <a:off x="9360363" y="6280517"/>
            <a:ext cx="2844800" cy="432048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de-DE"/>
            </a:defPPr>
            <a:lvl1pPr marL="0" algn="r" defTabSz="914400" rtl="0" eaLnBrk="1" latinLnBrk="0" hangingPunct="1">
              <a:defRPr sz="1000" b="1" kern="12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E74D3A-5CBD-4698-9B26-291CF1C26BCB}" type="slidenum">
              <a:rPr lang="en-GB" sz="1200" b="0" smtClean="0"/>
              <a:pPr/>
              <a:t>‹#›</a:t>
            </a:fld>
            <a:endParaRPr lang="en-GB" sz="1200" b="0"/>
          </a:p>
        </p:txBody>
      </p:sp>
      <p:sp>
        <p:nvSpPr>
          <p:cNvPr id="11" name="Gleichschenkliges Dreieck 10"/>
          <p:cNvSpPr/>
          <p:nvPr userDrawn="1"/>
        </p:nvSpPr>
        <p:spPr bwMode="auto">
          <a:xfrm rot="16200000">
            <a:off x="11434567" y="5763791"/>
            <a:ext cx="414000" cy="4320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728" tIns="54864" rIns="109728" bIns="5486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496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450181AD-606E-6160-C4C3-398467BD837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4434" y="836297"/>
            <a:ext cx="11523133" cy="4630225"/>
          </a:xfrm>
          <a:prstGeom prst="rect">
            <a:avLst/>
          </a:prstGeom>
        </p:spPr>
        <p:txBody>
          <a:bodyPr/>
          <a:lstStyle>
            <a:lvl1pPr marL="215266" indent="-215266">
              <a:buFont typeface="Wingdings" panose="05000000000000000000" pitchFamily="2" charset="2"/>
              <a:buChar char="§"/>
              <a:tabLst>
                <a:tab pos="215266" algn="l"/>
              </a:tabLst>
              <a:defRPr sz="2400">
                <a:solidFill>
                  <a:srgbClr val="002060"/>
                </a:solidFill>
              </a:defRPr>
            </a:lvl1pPr>
            <a:lvl2pPr marL="428626" indent="-213360"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2pPr>
            <a:lvl3pPr marL="643890" indent="-215266">
              <a:buFont typeface="Wingdings" panose="05000000000000000000" pitchFamily="2" charset="2"/>
              <a:buChar char="§"/>
              <a:defRPr sz="1800">
                <a:solidFill>
                  <a:srgbClr val="002060"/>
                </a:solidFill>
              </a:defRPr>
            </a:lvl3pPr>
            <a:lvl4pPr marL="859156" indent="-215266">
              <a:buFont typeface="Wingdings" panose="05000000000000000000" pitchFamily="2" charset="2"/>
              <a:buChar char="§"/>
              <a:tabLst/>
              <a:defRPr sz="1600">
                <a:solidFill>
                  <a:srgbClr val="002060"/>
                </a:solidFill>
              </a:defRPr>
            </a:lvl4pPr>
            <a:lvl5pPr marL="1078230" indent="-219076">
              <a:buFont typeface="Wingdings" panose="05000000000000000000" pitchFamily="2" charset="2"/>
              <a:buChar char="§"/>
              <a:tabLst/>
              <a:defRPr sz="1400">
                <a:solidFill>
                  <a:srgbClr val="002060"/>
                </a:solidFill>
              </a:defRPr>
            </a:lvl5pPr>
            <a:lvl6pPr marL="1293496" indent="-215266">
              <a:buFont typeface="Wingdings" panose="05000000000000000000" pitchFamily="2" charset="2"/>
              <a:buChar char="§"/>
              <a:defRPr sz="1400">
                <a:solidFill>
                  <a:srgbClr val="002060"/>
                </a:solidFill>
              </a:defRPr>
            </a:lvl6pPr>
            <a:lvl7pPr marL="1508760" indent="-215266">
              <a:buFont typeface="Wingdings" panose="05000000000000000000" pitchFamily="2" charset="2"/>
              <a:buChar char="§"/>
              <a:defRPr sz="1200">
                <a:solidFill>
                  <a:srgbClr val="002060"/>
                </a:solidFill>
              </a:defRPr>
            </a:lvl7pPr>
            <a:lvl8pPr marL="1722120" indent="-213360">
              <a:buFont typeface="Wingdings" panose="05000000000000000000" pitchFamily="2" charset="2"/>
              <a:buChar char="§"/>
              <a:defRPr sz="1100">
                <a:solidFill>
                  <a:srgbClr val="002060"/>
                </a:solidFill>
              </a:defRPr>
            </a:lvl8pPr>
            <a:lvl9pPr marL="1937386" indent="-215266">
              <a:buFont typeface="Wingdings" panose="05000000000000000000" pitchFamily="2" charset="2"/>
              <a:buChar char="§"/>
              <a:defRPr sz="1050">
                <a:solidFill>
                  <a:srgbClr val="00206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</a:t>
            </a:r>
          </a:p>
          <a:p>
            <a:pPr lvl="6"/>
            <a:r>
              <a:rPr lang="en-US"/>
              <a:t>Seventh</a:t>
            </a:r>
          </a:p>
          <a:p>
            <a:pPr lvl="7"/>
            <a:r>
              <a:rPr lang="en-US"/>
              <a:t>Eighth</a:t>
            </a:r>
          </a:p>
          <a:p>
            <a:pPr lvl="8"/>
            <a:r>
              <a:rPr lang="en-US"/>
              <a:t>Ninth</a:t>
            </a:r>
            <a:endParaRPr lang="en-GB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EF48E88-C53E-9061-183F-12577F653858}"/>
              </a:ext>
            </a:extLst>
          </p:cNvPr>
          <p:cNvSpPr txBox="1"/>
          <p:nvPr userDrawn="1"/>
        </p:nvSpPr>
        <p:spPr>
          <a:xfrm>
            <a:off x="3695732" y="6293581"/>
            <a:ext cx="4896544" cy="5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002060"/>
                </a:solidFill>
              </a:rPr>
              <a:t>Dornier Seastar CD2-200</a:t>
            </a:r>
          </a:p>
          <a:p>
            <a:pPr algn="ctr">
              <a:lnSpc>
                <a:spcPct val="150000"/>
              </a:lnSpc>
            </a:pPr>
            <a:r>
              <a:rPr lang="en-US" sz="1080" b="0" baseline="0">
                <a:solidFill>
                  <a:schemeClr val="bg1"/>
                </a:solidFill>
              </a:rPr>
              <a:t>Weekly Report cw26</a:t>
            </a:r>
            <a:endParaRPr lang="en-US" sz="108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01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Aktive Dateien\Dornier Seawings\Presentations\2014_07_25_Master\Fusszeile\CD2 Fusszeile_5-Blatt-1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6315144"/>
            <a:ext cx="12192000" cy="57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4C55DB8-4BB5-D665-A1E3-95AF0984DE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434" y="5465280"/>
            <a:ext cx="11523133" cy="688200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411480" indent="-411480">
              <a:buFont typeface="Wingdings" panose="05000000000000000000" pitchFamily="2" charset="2"/>
              <a:buChar char="Ø"/>
              <a:defRPr sz="1440">
                <a:solidFill>
                  <a:srgbClr val="002060"/>
                </a:solidFill>
              </a:defRPr>
            </a:lvl1pPr>
            <a:lvl2pPr marL="799607" indent="-308610">
              <a:buFont typeface="Wingdings" panose="05000000000000000000" pitchFamily="2" charset="2"/>
              <a:buChar char="§"/>
              <a:defRPr sz="1800"/>
            </a:lvl2pPr>
            <a:lvl3pPr marL="1290601" indent="-308610">
              <a:buFont typeface="Wingdings" panose="05000000000000000000" pitchFamily="2" charset="2"/>
              <a:buChar char="§"/>
              <a:defRPr sz="1800"/>
            </a:lvl3pPr>
            <a:lvl4pPr marL="1781597" indent="-308610">
              <a:buFont typeface="Wingdings" panose="05000000000000000000" pitchFamily="2" charset="2"/>
              <a:buChar char="§"/>
              <a:defRPr sz="1620"/>
            </a:lvl4pPr>
            <a:lvl5pPr marL="2219663" indent="-257176">
              <a:buFont typeface="Wingdings" panose="05000000000000000000" pitchFamily="2" charset="2"/>
              <a:buChar char="§"/>
              <a:defRPr sz="1440"/>
            </a:lvl5pPr>
            <a:lvl6pPr marL="2650780" indent="-257176">
              <a:buFont typeface="Wingdings" panose="05000000000000000000" pitchFamily="2" charset="2"/>
              <a:buChar char="§"/>
              <a:defRPr sz="1440"/>
            </a:lvl6pPr>
            <a:lvl7pPr marL="3081900" indent="-257176">
              <a:buFont typeface="Wingdings" panose="05000000000000000000" pitchFamily="2" charset="2"/>
              <a:buChar char="§"/>
              <a:defRPr sz="1440"/>
            </a:lvl7pPr>
            <a:lvl8pPr marL="3513016" indent="-257176">
              <a:buFont typeface="Wingdings" panose="05000000000000000000" pitchFamily="2" charset="2"/>
              <a:buChar char="§"/>
              <a:defRPr sz="1260"/>
            </a:lvl8pPr>
            <a:lvl9pPr marL="3841265" indent="-154306">
              <a:buFont typeface="Wingdings" panose="05000000000000000000" pitchFamily="2" charset="2"/>
              <a:buChar char="§"/>
              <a:defRPr sz="990"/>
            </a:lvl9pPr>
          </a:lstStyle>
          <a:p>
            <a:pPr lvl="0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74B29A-8827-3F07-CE9B-B5887E63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34" y="68736"/>
            <a:ext cx="10466089" cy="544358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50181AD-606E-6160-C4C3-398467BD837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4434" y="836297"/>
            <a:ext cx="11523133" cy="4297133"/>
          </a:xfrm>
          <a:prstGeom prst="rect">
            <a:avLst/>
          </a:prstGeom>
        </p:spPr>
        <p:txBody>
          <a:bodyPr/>
          <a:lstStyle>
            <a:lvl1pPr marL="215266" indent="-215266">
              <a:buFont typeface="Wingdings" panose="05000000000000000000" pitchFamily="2" charset="2"/>
              <a:buChar char="§"/>
              <a:tabLst>
                <a:tab pos="215266" algn="l"/>
              </a:tabLst>
              <a:defRPr sz="2400">
                <a:solidFill>
                  <a:srgbClr val="002060"/>
                </a:solidFill>
              </a:defRPr>
            </a:lvl1pPr>
            <a:lvl2pPr marL="428626" indent="-213360"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2pPr>
            <a:lvl3pPr marL="643890" indent="-215266">
              <a:buFont typeface="Wingdings" panose="05000000000000000000" pitchFamily="2" charset="2"/>
              <a:buChar char="§"/>
              <a:defRPr sz="1800">
                <a:solidFill>
                  <a:srgbClr val="002060"/>
                </a:solidFill>
              </a:defRPr>
            </a:lvl3pPr>
            <a:lvl4pPr marL="859156" indent="-215266">
              <a:buFont typeface="Wingdings" panose="05000000000000000000" pitchFamily="2" charset="2"/>
              <a:buChar char="§"/>
              <a:tabLst/>
              <a:defRPr sz="1600">
                <a:solidFill>
                  <a:srgbClr val="002060"/>
                </a:solidFill>
              </a:defRPr>
            </a:lvl4pPr>
            <a:lvl5pPr marL="1078230" indent="-219076">
              <a:buFont typeface="Wingdings" panose="05000000000000000000" pitchFamily="2" charset="2"/>
              <a:buChar char="§"/>
              <a:tabLst/>
              <a:defRPr sz="1400">
                <a:solidFill>
                  <a:srgbClr val="002060"/>
                </a:solidFill>
              </a:defRPr>
            </a:lvl5pPr>
            <a:lvl6pPr marL="1293496" indent="-215266">
              <a:buFont typeface="Wingdings" panose="05000000000000000000" pitchFamily="2" charset="2"/>
              <a:buChar char="§"/>
              <a:defRPr sz="1400">
                <a:solidFill>
                  <a:srgbClr val="002060"/>
                </a:solidFill>
              </a:defRPr>
            </a:lvl6pPr>
            <a:lvl7pPr marL="1508760" indent="-215266">
              <a:buFont typeface="Wingdings" panose="05000000000000000000" pitchFamily="2" charset="2"/>
              <a:buChar char="§"/>
              <a:defRPr sz="1200">
                <a:solidFill>
                  <a:srgbClr val="002060"/>
                </a:solidFill>
              </a:defRPr>
            </a:lvl7pPr>
            <a:lvl8pPr marL="1722120" indent="-213360">
              <a:buFont typeface="Wingdings" panose="05000000000000000000" pitchFamily="2" charset="2"/>
              <a:buChar char="§"/>
              <a:defRPr sz="1100">
                <a:solidFill>
                  <a:srgbClr val="002060"/>
                </a:solidFill>
              </a:defRPr>
            </a:lvl8pPr>
            <a:lvl9pPr marL="1937386" indent="-215266">
              <a:buFont typeface="Wingdings" panose="05000000000000000000" pitchFamily="2" charset="2"/>
              <a:buChar char="§"/>
              <a:defRPr sz="1050">
                <a:solidFill>
                  <a:srgbClr val="00206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</a:t>
            </a:r>
          </a:p>
          <a:p>
            <a:pPr lvl="6"/>
            <a:r>
              <a:rPr lang="en-US"/>
              <a:t>Seventh</a:t>
            </a:r>
          </a:p>
          <a:p>
            <a:pPr lvl="7"/>
            <a:r>
              <a:rPr lang="en-US"/>
              <a:t>Eighth</a:t>
            </a:r>
          </a:p>
          <a:p>
            <a:pPr lvl="8"/>
            <a:r>
              <a:rPr lang="en-US"/>
              <a:t>Ninth</a:t>
            </a:r>
            <a:endParaRPr lang="en-GB"/>
          </a:p>
        </p:txBody>
      </p:sp>
      <p:sp>
        <p:nvSpPr>
          <p:cNvPr id="8" name="Foliennummernplatzhalter 2"/>
          <p:cNvSpPr txBox="1">
            <a:spLocks/>
          </p:cNvSpPr>
          <p:nvPr userDrawn="1"/>
        </p:nvSpPr>
        <p:spPr>
          <a:xfrm>
            <a:off x="9360363" y="6280517"/>
            <a:ext cx="2844800" cy="432048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de-DE"/>
            </a:defPPr>
            <a:lvl1pPr marL="0" algn="r" defTabSz="914400" rtl="0" eaLnBrk="1" latinLnBrk="0" hangingPunct="1">
              <a:defRPr sz="1000" b="1" kern="12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E74D3A-5CBD-4698-9B26-291CF1C26BCB}" type="slidenum">
              <a:rPr lang="en-GB" sz="1200" b="0" smtClean="0"/>
              <a:pPr/>
              <a:t>‹#›</a:t>
            </a:fld>
            <a:endParaRPr lang="en-GB" sz="1200" b="0"/>
          </a:p>
        </p:txBody>
      </p:sp>
      <p:sp>
        <p:nvSpPr>
          <p:cNvPr id="11" name="TextBox 6"/>
          <p:cNvSpPr txBox="1"/>
          <p:nvPr userDrawn="1"/>
        </p:nvSpPr>
        <p:spPr>
          <a:xfrm>
            <a:off x="11280576" y="6688175"/>
            <a:ext cx="911424" cy="184666"/>
          </a:xfrm>
          <a:prstGeom prst="rect">
            <a:avLst/>
          </a:prstGeom>
          <a:noFill/>
        </p:spPr>
        <p:txBody>
          <a:bodyPr wrap="square" rIns="64800" rtlCol="0">
            <a:spAutoFit/>
          </a:bodyPr>
          <a:lstStyle/>
          <a:p>
            <a:r>
              <a:rPr lang="de-DE" sz="600" baseline="0"/>
              <a:t>QMF-160.005 H </a:t>
            </a:r>
            <a:endParaRPr lang="en-GB" sz="600" baseline="0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124651E1-EF5A-8BE8-2555-AD4510CE4AC1}"/>
              </a:ext>
            </a:extLst>
          </p:cNvPr>
          <p:cNvSpPr txBox="1"/>
          <p:nvPr userDrawn="1"/>
        </p:nvSpPr>
        <p:spPr>
          <a:xfrm>
            <a:off x="3695732" y="6293581"/>
            <a:ext cx="4896544" cy="5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002060"/>
                </a:solidFill>
              </a:rPr>
              <a:t>Dornier Seastar CD2-200</a:t>
            </a:r>
          </a:p>
          <a:p>
            <a:pPr algn="ctr">
              <a:lnSpc>
                <a:spcPct val="150000"/>
              </a:lnSpc>
            </a:pPr>
            <a:r>
              <a:rPr lang="en-US" sz="1080" b="0" baseline="0">
                <a:solidFill>
                  <a:schemeClr val="bg1"/>
                </a:solidFill>
              </a:rPr>
              <a:t>Weekly Report cw26</a:t>
            </a:r>
            <a:endParaRPr lang="en-US" sz="108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59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Aktive Dateien\Dornier Seawings\Presentations\2014_07_25_Master\Fusszeile\CD2 Fusszeile_5-Blatt-1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6315144"/>
            <a:ext cx="12192000" cy="57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11280576" y="6688175"/>
            <a:ext cx="911424" cy="184666"/>
          </a:xfrm>
          <a:prstGeom prst="rect">
            <a:avLst/>
          </a:prstGeom>
          <a:noFill/>
        </p:spPr>
        <p:txBody>
          <a:bodyPr wrap="square" rIns="64800" rtlCol="0">
            <a:spAutoFit/>
          </a:bodyPr>
          <a:lstStyle/>
          <a:p>
            <a:pPr>
              <a:buClrTx/>
              <a:buFontTx/>
              <a:buNone/>
            </a:pPr>
            <a:r>
              <a:rPr lang="de-DE" sz="600" kern="1200">
                <a:ea typeface="+mn-ea"/>
                <a:cs typeface="+mn-cs"/>
              </a:rPr>
              <a:t>QMF-160.005 H </a:t>
            </a:r>
            <a:endParaRPr lang="en-GB" sz="600" kern="1200">
              <a:ea typeface="+mn-ea"/>
              <a:cs typeface="+mn-cs"/>
            </a:endParaRPr>
          </a:p>
        </p:txBody>
      </p:sp>
      <p:sp>
        <p:nvSpPr>
          <p:cNvPr id="8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34434" y="2891411"/>
            <a:ext cx="11523133" cy="49876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tabLst>
                <a:tab pos="215266" algn="l"/>
              </a:tabLst>
              <a:defRPr sz="384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428626" indent="-213360">
              <a:buFont typeface="Wingdings" panose="05000000000000000000" pitchFamily="2" charset="2"/>
              <a:buChar char="§"/>
              <a:defRPr sz="2160">
                <a:solidFill>
                  <a:srgbClr val="002060"/>
                </a:solidFill>
              </a:defRPr>
            </a:lvl2pPr>
            <a:lvl3pPr marL="643890" indent="-215266">
              <a:buFont typeface="Wingdings" panose="05000000000000000000" pitchFamily="2" charset="2"/>
              <a:buChar char="§"/>
              <a:defRPr sz="1920">
                <a:solidFill>
                  <a:srgbClr val="002060"/>
                </a:solidFill>
              </a:defRPr>
            </a:lvl3pPr>
            <a:lvl4pPr marL="859156" indent="-215266">
              <a:buFont typeface="Wingdings" panose="05000000000000000000" pitchFamily="2" charset="2"/>
              <a:buChar char="§"/>
              <a:tabLst/>
              <a:defRPr sz="1680">
                <a:solidFill>
                  <a:srgbClr val="002060"/>
                </a:solidFill>
              </a:defRPr>
            </a:lvl4pPr>
            <a:lvl5pPr marL="1078230" indent="-219076">
              <a:buFont typeface="Wingdings" panose="05000000000000000000" pitchFamily="2" charset="2"/>
              <a:buChar char="§"/>
              <a:tabLst/>
              <a:defRPr sz="1440">
                <a:solidFill>
                  <a:srgbClr val="002060"/>
                </a:solidFill>
              </a:defRPr>
            </a:lvl5pPr>
            <a:lvl6pPr marL="1293496" indent="-215266">
              <a:buFont typeface="Wingdings" panose="05000000000000000000" pitchFamily="2" charset="2"/>
              <a:buChar char="§"/>
              <a:defRPr sz="1440">
                <a:solidFill>
                  <a:srgbClr val="002060"/>
                </a:solidFill>
              </a:defRPr>
            </a:lvl6pPr>
            <a:lvl7pPr marL="1508760" indent="-215266">
              <a:buFont typeface="Wingdings" panose="05000000000000000000" pitchFamily="2" charset="2"/>
              <a:buChar char="§"/>
              <a:defRPr sz="1320">
                <a:solidFill>
                  <a:srgbClr val="002060"/>
                </a:solidFill>
              </a:defRPr>
            </a:lvl7pPr>
            <a:lvl8pPr marL="1722120" indent="-213360">
              <a:buFont typeface="Wingdings" panose="05000000000000000000" pitchFamily="2" charset="2"/>
              <a:buChar char="§"/>
              <a:defRPr sz="1260">
                <a:solidFill>
                  <a:srgbClr val="002060"/>
                </a:solidFill>
              </a:defRPr>
            </a:lvl8pPr>
            <a:lvl9pPr marL="1937386" indent="-215266">
              <a:buFont typeface="Wingdings" panose="05000000000000000000" pitchFamily="2" charset="2"/>
              <a:buChar char="§"/>
              <a:defRPr sz="1080">
                <a:solidFill>
                  <a:srgbClr val="002060"/>
                </a:solidFill>
              </a:defRPr>
            </a:lvl9pPr>
          </a:lstStyle>
          <a:p>
            <a:pPr lvl="0"/>
            <a:r>
              <a:rPr lang="en-GB"/>
              <a:t>Headline</a:t>
            </a:r>
          </a:p>
        </p:txBody>
      </p:sp>
      <p:sp>
        <p:nvSpPr>
          <p:cNvPr id="9" name="Foliennummernplatzhalter 2"/>
          <p:cNvSpPr txBox="1">
            <a:spLocks/>
          </p:cNvSpPr>
          <p:nvPr userDrawn="1"/>
        </p:nvSpPr>
        <p:spPr>
          <a:xfrm>
            <a:off x="9360363" y="6280517"/>
            <a:ext cx="2844800" cy="432048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de-DE"/>
            </a:defPPr>
            <a:lvl1pPr marL="0" algn="r" defTabSz="914400" rtl="0" eaLnBrk="1" latinLnBrk="0" hangingPunct="1">
              <a:defRPr sz="1000" b="1" kern="12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fld id="{89E74D3A-5CBD-4698-9B26-291CF1C26BCB}" type="slidenum">
              <a:rPr lang="en-GB" sz="1200" b="0" smtClean="0"/>
              <a:pPr>
                <a:buClrTx/>
                <a:buFontTx/>
                <a:buNone/>
              </a:pPr>
              <a:t>‹#›</a:t>
            </a:fld>
            <a:endParaRPr lang="en-GB" sz="1200" b="0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6551771F-CC97-0E4A-5C1B-144779B2A1CC}"/>
              </a:ext>
            </a:extLst>
          </p:cNvPr>
          <p:cNvSpPr txBox="1"/>
          <p:nvPr userDrawn="1"/>
        </p:nvSpPr>
        <p:spPr>
          <a:xfrm>
            <a:off x="3695732" y="6293581"/>
            <a:ext cx="4896544" cy="5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002060"/>
                </a:solidFill>
              </a:rPr>
              <a:t>Dornier Seastar CD2-200</a:t>
            </a:r>
          </a:p>
          <a:p>
            <a:pPr algn="ctr">
              <a:lnSpc>
                <a:spcPct val="150000"/>
              </a:lnSpc>
            </a:pPr>
            <a:r>
              <a:rPr lang="en-US" sz="1080" b="0" baseline="0">
                <a:solidFill>
                  <a:schemeClr val="bg1"/>
                </a:solidFill>
              </a:rPr>
              <a:t>Weekly Report cw26</a:t>
            </a:r>
            <a:endParaRPr lang="en-US" sz="108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31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99872" y="6366926"/>
            <a:ext cx="2844800" cy="432048"/>
          </a:xfrm>
          <a:prstGeom prst="rect">
            <a:avLst/>
          </a:prstGeom>
        </p:spPr>
        <p:txBody>
          <a:bodyPr/>
          <a:lstStyle/>
          <a:p>
            <a:fld id="{89E74D3A-5CBD-4698-9B26-291CF1C26BC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28" name="Picture 4" descr="D:\Aktive Dateien\Dornier Seawings\Presentations\2014_07_25_Master\Fusszeile\CD2 Fusszeile_5-Blatt-1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6315144"/>
            <a:ext cx="12192000" cy="57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11280576" y="6688175"/>
            <a:ext cx="911424" cy="184666"/>
          </a:xfrm>
          <a:prstGeom prst="rect">
            <a:avLst/>
          </a:prstGeom>
          <a:noFill/>
        </p:spPr>
        <p:txBody>
          <a:bodyPr wrap="square" rIns="64800" rtlCol="0">
            <a:spAutoFit/>
          </a:bodyPr>
          <a:lstStyle/>
          <a:p>
            <a:pPr>
              <a:buClrTx/>
              <a:buFontTx/>
              <a:buNone/>
            </a:pPr>
            <a:r>
              <a:rPr lang="de-DE" sz="600" kern="1200">
                <a:ea typeface="+mn-ea"/>
                <a:cs typeface="+mn-cs"/>
              </a:rPr>
              <a:t>QMF-160.005 H </a:t>
            </a:r>
            <a:endParaRPr lang="en-GB" sz="600" kern="1200">
              <a:ea typeface="+mn-ea"/>
              <a:cs typeface="+mn-cs"/>
            </a:endParaRPr>
          </a:p>
        </p:txBody>
      </p:sp>
      <p:sp>
        <p:nvSpPr>
          <p:cNvPr id="8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34434" y="2891411"/>
            <a:ext cx="11523133" cy="49876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tabLst>
                <a:tab pos="215266" algn="l"/>
              </a:tabLst>
              <a:defRPr sz="3840" b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428626" indent="-213360">
              <a:buFont typeface="Wingdings" panose="05000000000000000000" pitchFamily="2" charset="2"/>
              <a:buChar char="§"/>
              <a:defRPr sz="2160">
                <a:solidFill>
                  <a:srgbClr val="002060"/>
                </a:solidFill>
              </a:defRPr>
            </a:lvl2pPr>
            <a:lvl3pPr marL="643890" indent="-215266">
              <a:buFont typeface="Wingdings" panose="05000000000000000000" pitchFamily="2" charset="2"/>
              <a:buChar char="§"/>
              <a:defRPr sz="1920">
                <a:solidFill>
                  <a:srgbClr val="002060"/>
                </a:solidFill>
              </a:defRPr>
            </a:lvl3pPr>
            <a:lvl4pPr marL="859156" indent="-215266">
              <a:buFont typeface="Wingdings" panose="05000000000000000000" pitchFamily="2" charset="2"/>
              <a:buChar char="§"/>
              <a:tabLst/>
              <a:defRPr sz="1680">
                <a:solidFill>
                  <a:srgbClr val="002060"/>
                </a:solidFill>
              </a:defRPr>
            </a:lvl4pPr>
            <a:lvl5pPr marL="1078230" indent="-219076">
              <a:buFont typeface="Wingdings" panose="05000000000000000000" pitchFamily="2" charset="2"/>
              <a:buChar char="§"/>
              <a:tabLst/>
              <a:defRPr sz="1440">
                <a:solidFill>
                  <a:srgbClr val="002060"/>
                </a:solidFill>
              </a:defRPr>
            </a:lvl5pPr>
            <a:lvl6pPr marL="1293496" indent="-215266">
              <a:buFont typeface="Wingdings" panose="05000000000000000000" pitchFamily="2" charset="2"/>
              <a:buChar char="§"/>
              <a:defRPr sz="1440">
                <a:solidFill>
                  <a:srgbClr val="002060"/>
                </a:solidFill>
              </a:defRPr>
            </a:lvl6pPr>
            <a:lvl7pPr marL="1508760" indent="-215266">
              <a:buFont typeface="Wingdings" panose="05000000000000000000" pitchFamily="2" charset="2"/>
              <a:buChar char="§"/>
              <a:defRPr sz="1320">
                <a:solidFill>
                  <a:srgbClr val="002060"/>
                </a:solidFill>
              </a:defRPr>
            </a:lvl7pPr>
            <a:lvl8pPr marL="1722120" indent="-213360">
              <a:buFont typeface="Wingdings" panose="05000000000000000000" pitchFamily="2" charset="2"/>
              <a:buChar char="§"/>
              <a:defRPr sz="1260">
                <a:solidFill>
                  <a:srgbClr val="002060"/>
                </a:solidFill>
              </a:defRPr>
            </a:lvl8pPr>
            <a:lvl9pPr marL="1937386" indent="-215266">
              <a:buFont typeface="Wingdings" panose="05000000000000000000" pitchFamily="2" charset="2"/>
              <a:buChar char="§"/>
              <a:defRPr sz="1080">
                <a:solidFill>
                  <a:srgbClr val="002060"/>
                </a:solidFill>
              </a:defRPr>
            </a:lvl9pPr>
          </a:lstStyle>
          <a:p>
            <a:pPr lvl="0"/>
            <a:r>
              <a:rPr lang="en-GB"/>
              <a:t>BACKUP</a:t>
            </a:r>
          </a:p>
        </p:txBody>
      </p:sp>
      <p:sp>
        <p:nvSpPr>
          <p:cNvPr id="9" name="Foliennummernplatzhalter 2"/>
          <p:cNvSpPr txBox="1">
            <a:spLocks/>
          </p:cNvSpPr>
          <p:nvPr userDrawn="1"/>
        </p:nvSpPr>
        <p:spPr>
          <a:xfrm>
            <a:off x="9360363" y="6280517"/>
            <a:ext cx="2844800" cy="432048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de-DE"/>
            </a:defPPr>
            <a:lvl1pPr marL="0" algn="r" defTabSz="914400" rtl="0" eaLnBrk="1" latinLnBrk="0" hangingPunct="1">
              <a:defRPr sz="1000" b="1" kern="12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  <a:buNone/>
            </a:pPr>
            <a:fld id="{89E74D3A-5CBD-4698-9B26-291CF1C26BCB}" type="slidenum">
              <a:rPr lang="en-GB" sz="1200" b="0" smtClean="0"/>
              <a:pPr>
                <a:buClrTx/>
                <a:buFontTx/>
                <a:buNone/>
              </a:pPr>
              <a:t>‹#›</a:t>
            </a:fld>
            <a:endParaRPr lang="en-GB" sz="12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550EB-AF63-74C6-14B3-FD32C0ED4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34" y="68736"/>
            <a:ext cx="10466089" cy="544358"/>
          </a:xfrm>
          <a:prstGeom prst="rect">
            <a:avLst/>
          </a:prstGeom>
        </p:spPr>
        <p:txBody>
          <a:bodyPr anchor="ctr"/>
          <a:lstStyle>
            <a:lvl1pPr>
              <a:defRPr sz="2400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/>
              <a:t>Backup</a:t>
            </a:r>
            <a:endParaRPr lang="en-GB"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9FD8C60C-AAC9-2BCE-49C6-98270F323858}"/>
              </a:ext>
            </a:extLst>
          </p:cNvPr>
          <p:cNvSpPr txBox="1"/>
          <p:nvPr userDrawn="1"/>
        </p:nvSpPr>
        <p:spPr>
          <a:xfrm>
            <a:off x="3695732" y="6293581"/>
            <a:ext cx="4896544" cy="5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b="1">
                <a:solidFill>
                  <a:srgbClr val="002060"/>
                </a:solidFill>
              </a:rPr>
              <a:t>Dornier Seastar CD2-200</a:t>
            </a:r>
          </a:p>
          <a:p>
            <a:pPr algn="ctr">
              <a:lnSpc>
                <a:spcPct val="150000"/>
              </a:lnSpc>
            </a:pPr>
            <a:r>
              <a:rPr lang="en-US" sz="1080" b="0" baseline="0">
                <a:solidFill>
                  <a:schemeClr val="bg1"/>
                </a:solidFill>
              </a:rPr>
              <a:t>Weekly Report cw26</a:t>
            </a:r>
            <a:endParaRPr lang="en-US" sz="108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1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Line 13"/>
          <p:cNvSpPr>
            <a:spLocks noChangeShapeType="1"/>
          </p:cNvSpPr>
          <p:nvPr userDrawn="1"/>
        </p:nvSpPr>
        <p:spPr bwMode="auto">
          <a:xfrm flipV="1">
            <a:off x="0" y="685368"/>
            <a:ext cx="12192000" cy="0"/>
          </a:xfrm>
          <a:prstGeom prst="line">
            <a:avLst/>
          </a:prstGeom>
          <a:noFill/>
          <a:ln w="3175">
            <a:solidFill>
              <a:srgbClr val="004E9B"/>
            </a:solidFill>
            <a:round/>
            <a:headEnd/>
            <a:tailEnd/>
          </a:ln>
          <a:effectLst/>
        </p:spPr>
        <p:txBody>
          <a:bodyPr wrap="none" lIns="95804" tIns="47902" rIns="95804" bIns="47902" anchor="ctr"/>
          <a:lstStyle/>
          <a:p>
            <a:pPr>
              <a:defRPr/>
            </a:pPr>
            <a:endParaRPr lang="de-DE" sz="2160"/>
          </a:p>
        </p:txBody>
      </p:sp>
      <p:sp>
        <p:nvSpPr>
          <p:cNvPr id="6228" name="Rectangle 84"/>
          <p:cNvSpPr>
            <a:spLocks noChangeArrowheads="1"/>
          </p:cNvSpPr>
          <p:nvPr userDrawn="1"/>
        </p:nvSpPr>
        <p:spPr bwMode="auto">
          <a:xfrm>
            <a:off x="3" y="5650579"/>
            <a:ext cx="221664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 sz="2160"/>
          </a:p>
        </p:txBody>
      </p:sp>
      <p:sp>
        <p:nvSpPr>
          <p:cNvPr id="6230" name="Rectangle 86"/>
          <p:cNvSpPr>
            <a:spLocks noChangeArrowheads="1"/>
          </p:cNvSpPr>
          <p:nvPr userDrawn="1"/>
        </p:nvSpPr>
        <p:spPr bwMode="auto">
          <a:xfrm>
            <a:off x="3" y="1078547"/>
            <a:ext cx="221664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09728" tIns="54864" rIns="109728" bIns="54864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 sz="2160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96534" y="73440"/>
            <a:ext cx="1168060" cy="54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 userDrawn="1"/>
        </p:nvSpPr>
        <p:spPr>
          <a:xfrm>
            <a:off x="334434" y="68736"/>
            <a:ext cx="10466089" cy="544358"/>
          </a:xfrm>
          <a:prstGeom prst="rect">
            <a:avLst/>
          </a:prstGeom>
        </p:spPr>
        <p:txBody>
          <a:bodyPr/>
          <a:lstStyle>
            <a:lvl1pPr algn="l" defTabSz="909252" rtl="0" eaLnBrk="0" fontAlgn="base" hangingPunct="0">
              <a:spcBef>
                <a:spcPct val="0"/>
              </a:spcBef>
              <a:spcAft>
                <a:spcPct val="0"/>
              </a:spcAft>
              <a:defRPr sz="2200" b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defTabSz="909252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2pPr>
            <a:lvl3pPr algn="ctr" defTabSz="909252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3pPr>
            <a:lvl4pPr algn="ctr" defTabSz="909252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4pPr>
            <a:lvl5pPr algn="ctr" defTabSz="909252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5pPr>
            <a:lvl6pPr marL="399184" algn="ctr" defTabSz="909252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6pPr>
            <a:lvl7pPr marL="798365" algn="ctr" defTabSz="909252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7pPr>
            <a:lvl8pPr marL="1197550" algn="ctr" defTabSz="909252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8pPr>
            <a:lvl9pPr marL="1596735" algn="ctr" defTabSz="909252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</a:defRPr>
            </a:lvl9pPr>
          </a:lstStyle>
          <a:p>
            <a:endParaRPr lang="en-GB" sz="2640" kern="0"/>
          </a:p>
        </p:txBody>
      </p:sp>
    </p:spTree>
    <p:extLst>
      <p:ext uri="{BB962C8B-B14F-4D97-AF65-F5344CB8AC3E}">
        <p14:creationId xmlns:p14="http://schemas.microsoft.com/office/powerpoint/2010/main" val="324150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5" r:id="rId2"/>
    <p:sldLayoutId id="2147483676" r:id="rId3"/>
    <p:sldLayoutId id="2147483677" r:id="rId4"/>
    <p:sldLayoutId id="2147483673" r:id="rId5"/>
    <p:sldLayoutId id="2147483674" r:id="rId6"/>
  </p:sldLayoutIdLst>
  <p:hf sldNum="0" hdr="0" ftr="0" dt="0"/>
  <p:txStyles>
    <p:titleStyle>
      <a:lvl1pPr algn="l" defTabSz="1091102" rtl="0" eaLnBrk="0" fontAlgn="base" hangingPunct="0">
        <a:spcBef>
          <a:spcPct val="0"/>
        </a:spcBef>
        <a:spcAft>
          <a:spcPct val="0"/>
        </a:spcAft>
        <a:defRPr sz="2640" b="0">
          <a:solidFill>
            <a:srgbClr val="00206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defTabSz="1091102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2pPr>
      <a:lvl3pPr algn="ctr" defTabSz="1091102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3pPr>
      <a:lvl4pPr algn="ctr" defTabSz="1091102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4pPr>
      <a:lvl5pPr algn="ctr" defTabSz="1091102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5pPr>
      <a:lvl6pPr marL="479021" algn="ctr" defTabSz="1091102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6pPr>
      <a:lvl7pPr marL="958038" algn="ctr" defTabSz="1091102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7pPr>
      <a:lvl8pPr marL="1437060" algn="ctr" defTabSz="1091102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8pPr>
      <a:lvl9pPr marL="1916082" algn="ctr" defTabSz="1091102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pitchFamily="34" charset="0"/>
        </a:defRPr>
      </a:lvl9pPr>
    </p:titleStyle>
    <p:bodyStyle>
      <a:lvl1pPr marL="409162" indent="-409162" algn="l" defTabSz="1091102" rtl="0" eaLnBrk="0" fontAlgn="base" hangingPunct="0">
        <a:spcBef>
          <a:spcPct val="20000"/>
        </a:spcBef>
        <a:spcAft>
          <a:spcPct val="0"/>
        </a:spcAft>
        <a:buChar char="•"/>
        <a:defRPr sz="3720">
          <a:solidFill>
            <a:schemeClr val="tx1"/>
          </a:solidFill>
          <a:latin typeface="+mn-lt"/>
          <a:ea typeface="+mn-ea"/>
          <a:cs typeface="+mn-cs"/>
        </a:defRPr>
      </a:lvl1pPr>
      <a:lvl2pPr marL="886523" indent="-340970" algn="l" defTabSz="1091102" rtl="0" eaLnBrk="0" fontAlgn="base" hangingPunct="0">
        <a:spcBef>
          <a:spcPct val="20000"/>
        </a:spcBef>
        <a:spcAft>
          <a:spcPct val="0"/>
        </a:spcAft>
        <a:buChar char="–"/>
        <a:defRPr sz="3360">
          <a:solidFill>
            <a:schemeClr val="tx1"/>
          </a:solidFill>
          <a:latin typeface="+mn-lt"/>
        </a:defRPr>
      </a:lvl2pPr>
      <a:lvl3pPr marL="1363877" indent="-272776" algn="l" defTabSz="1091102" rtl="0" eaLnBrk="0" fontAlgn="base" hangingPunct="0">
        <a:spcBef>
          <a:spcPct val="20000"/>
        </a:spcBef>
        <a:spcAft>
          <a:spcPct val="0"/>
        </a:spcAft>
        <a:buChar char="•"/>
        <a:defRPr sz="2880">
          <a:solidFill>
            <a:schemeClr val="tx1"/>
          </a:solidFill>
          <a:latin typeface="+mn-lt"/>
        </a:defRPr>
      </a:lvl3pPr>
      <a:lvl4pPr marL="1909428" indent="-272776" algn="l" defTabSz="1091102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453317" indent="-272776" algn="l" defTabSz="1091102" rtl="0" eaLnBrk="0" fontAlgn="base" hangingPunct="0">
        <a:spcBef>
          <a:spcPct val="20000"/>
        </a:spcBef>
        <a:spcAft>
          <a:spcPct val="0"/>
        </a:spcAft>
        <a:buChar char="»"/>
        <a:defRPr sz="2400" i="0">
          <a:solidFill>
            <a:schemeClr val="tx1"/>
          </a:solidFill>
          <a:latin typeface="+mn-lt"/>
        </a:defRPr>
      </a:lvl5pPr>
      <a:lvl6pPr marL="2932337" indent="-272776" algn="l" defTabSz="1091102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3411359" indent="-272776" algn="l" defTabSz="1091102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890376" indent="-272776" algn="l" defTabSz="1091102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4369398" indent="-272776" algn="l" defTabSz="1091102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79021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58038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37060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16082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395102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874120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353142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832162" algn="l" defTabSz="958038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744" y="4206686"/>
            <a:ext cx="8108149" cy="1227956"/>
          </a:xfrm>
        </p:spPr>
        <p:txBody>
          <a:bodyPr>
            <a:normAutofit fontScale="90000"/>
          </a:bodyPr>
          <a:lstStyle/>
          <a:p>
            <a:r>
              <a:rPr lang="en-GB" sz="4300"/>
              <a:t>Weekly Status Report </a:t>
            </a:r>
            <a:br>
              <a:rPr lang="en-GB" sz="4300"/>
            </a:br>
            <a:r>
              <a:rPr lang="en-GB" sz="4300"/>
              <a:t>CW26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339187" y="5589271"/>
            <a:ext cx="8560706" cy="5372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/>
              <a:t>June 26</a:t>
            </a:r>
            <a:r>
              <a:rPr lang="en-GB" sz="2400" baseline="30000"/>
              <a:t>th</a:t>
            </a:r>
            <a:r>
              <a:rPr lang="en-GB" sz="240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1440700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36085-DD85-3E8D-F175-F9B2F1E70E5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34434" y="836296"/>
            <a:ext cx="11523133" cy="518499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2000">
                <a:solidFill>
                  <a:srgbClr val="002060"/>
                </a:solidFill>
              </a:rPr>
              <a:t>Weekly Highlights / Lowlights </a:t>
            </a:r>
            <a:r>
              <a:rPr lang="zh-CN" altLang="en-US" sz="1600">
                <a:solidFill>
                  <a:srgbClr val="5F6F82"/>
                </a:solidFill>
                <a:latin typeface="+mj-ea"/>
              </a:rPr>
              <a:t>本周亮点 </a:t>
            </a:r>
            <a:r>
              <a:rPr lang="en-US" sz="1600">
                <a:solidFill>
                  <a:srgbClr val="5F6F82"/>
                </a:solidFill>
                <a:latin typeface="+mj-ea"/>
              </a:rPr>
              <a:t>/ </a:t>
            </a:r>
            <a:r>
              <a:rPr lang="zh-CN" altLang="en-US" sz="1600">
                <a:solidFill>
                  <a:srgbClr val="5F6F82"/>
                </a:solidFill>
                <a:latin typeface="+mj-ea"/>
              </a:rPr>
              <a:t>风险及问题</a:t>
            </a:r>
            <a:endParaRPr lang="en-GB" sz="1600">
              <a:solidFill>
                <a:srgbClr val="002060"/>
              </a:solidFill>
              <a:latin typeface="+mj-ea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2000">
                <a:solidFill>
                  <a:srgbClr val="002060"/>
                </a:solidFill>
              </a:rPr>
              <a:t>Status SN1002 / SN1003 / SN1004 </a:t>
            </a:r>
            <a:r>
              <a:rPr lang="en-GB" sz="1600">
                <a:solidFill>
                  <a:srgbClr val="5F6F82"/>
                </a:solidFill>
                <a:latin typeface="+mj-ea"/>
              </a:rPr>
              <a:t>SN1002 / SN1003 / SN1004 </a:t>
            </a:r>
            <a:r>
              <a:rPr lang="zh-CN" altLang="en-US" sz="1600">
                <a:solidFill>
                  <a:srgbClr val="5F6F82"/>
                </a:solidFill>
                <a:latin typeface="+mj-ea"/>
              </a:rPr>
              <a:t>状态</a:t>
            </a:r>
            <a:endParaRPr lang="en-GB" sz="1600">
              <a:solidFill>
                <a:srgbClr val="5F6F82"/>
              </a:solidFill>
              <a:latin typeface="+mj-ea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2000">
                <a:solidFill>
                  <a:srgbClr val="002060"/>
                </a:solidFill>
              </a:rPr>
              <a:t>Flight test program progress </a:t>
            </a:r>
            <a:r>
              <a:rPr lang="zh-CN" altLang="en-US" sz="1600">
                <a:solidFill>
                  <a:srgbClr val="5F6F82"/>
                </a:solidFill>
                <a:latin typeface="+mj-ea"/>
              </a:rPr>
              <a:t>飞行测试项目进展</a:t>
            </a:r>
            <a:endParaRPr lang="en-GB" sz="1600">
              <a:solidFill>
                <a:srgbClr val="5F6F82"/>
              </a:solidFill>
              <a:latin typeface="+mj-ea"/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2000">
                <a:solidFill>
                  <a:srgbClr val="002060"/>
                </a:solidFill>
              </a:rPr>
              <a:t>Short term flight test plan </a:t>
            </a:r>
            <a:r>
              <a:rPr lang="zh-CN" altLang="en-US" sz="1600">
                <a:solidFill>
                  <a:srgbClr val="5F6F82"/>
                </a:solidFill>
                <a:latin typeface="+mj-ea"/>
              </a:rPr>
              <a:t>短期飞行测试计划</a:t>
            </a:r>
            <a:endParaRPr lang="en-GB" sz="1600">
              <a:solidFill>
                <a:srgbClr val="5F6F82"/>
              </a:solidFill>
              <a:latin typeface="+mj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8465C-1EA0-7E74-F177-85F8101B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Content</a:t>
            </a: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608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70332" y="692364"/>
            <a:ext cx="11510659" cy="5168472"/>
          </a:xfrm>
        </p:spPr>
        <p:txBody>
          <a:bodyPr wrap="square" lIns="0" tIns="0" rIns="0" bIns="0"/>
          <a:lstStyle/>
          <a:p>
            <a:pPr marL="358775" lvl="0" indent="-269875">
              <a:spcBef>
                <a:spcPts val="0"/>
              </a:spcBef>
              <a:spcAft>
                <a:spcPts val="0"/>
              </a:spcAft>
              <a:tabLst/>
            </a:pPr>
            <a:r>
              <a:rPr lang="en-GB" sz="1600" b="1" u="sng"/>
              <a:t>Highlights</a:t>
            </a:r>
            <a:r>
              <a:rPr lang="zh-CN" altLang="en-US" sz="1600" b="1" u="sng"/>
              <a:t>亮点</a:t>
            </a:r>
            <a:r>
              <a:rPr lang="en-GB" sz="1600"/>
              <a:t>				</a:t>
            </a:r>
            <a:endParaRPr lang="en-US" sz="1400"/>
          </a:p>
          <a:p>
            <a:pPr marL="714375" indent="-3556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</a:pPr>
            <a:r>
              <a:rPr lang="de-DE" sz="1400"/>
              <a:t>Considerable effort and progress has been made on ‚content freeze‘ flights to recover lost week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</a:rPr>
              <a:t>       为了追回耽误的一周时间，在“内容冻结”飞行上做出了相当大的努力，并取得了进展</a:t>
            </a:r>
            <a:r>
              <a:rPr lang="de-DE" sz="1400"/>
              <a:t> </a:t>
            </a:r>
          </a:p>
          <a:p>
            <a:pPr marL="714375" indent="-3556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</a:pPr>
            <a:r>
              <a:rPr lang="de-DE" sz="1400"/>
              <a:t>First round of budget planning has been completed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de-DE" sz="1400"/>
              <a:t>       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</a:rPr>
              <a:t>首轮预算计划已经完成</a:t>
            </a:r>
            <a:endParaRPr lang="de-DE" sz="1400">
              <a:solidFill>
                <a:srgbClr val="808080"/>
              </a:solidFill>
              <a:ea typeface="Arial" panose="020B0604020202020204" pitchFamily="34" charset="0"/>
            </a:endParaRPr>
          </a:p>
          <a:p>
            <a:pPr marL="714375" indent="-3556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/>
            </a:pPr>
            <a:r>
              <a:rPr lang="en-US" sz="1400"/>
              <a:t>Wording of DAU SOW has been finalized with IS&amp;S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en-US" sz="1400"/>
              <a:t>       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</a:rPr>
              <a:t>DAU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</a:rPr>
              <a:t>工作说明书（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</a:rPr>
              <a:t>SOW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</a:rPr>
              <a:t>）的文稿已与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</a:rPr>
              <a:t>IS&amp;S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</a:rPr>
              <a:t>最终确认</a:t>
            </a:r>
            <a:endParaRPr lang="en-US" sz="1400">
              <a:solidFill>
                <a:srgbClr val="808080"/>
              </a:solidFill>
              <a:ea typeface="Arial" panose="020B0604020202020204" pitchFamily="34" charset="0"/>
            </a:endParaRPr>
          </a:p>
          <a:p>
            <a:pPr marL="358775" indent="-269875">
              <a:spcBef>
                <a:spcPts val="0"/>
              </a:spcBef>
              <a:spcAft>
                <a:spcPts val="600"/>
              </a:spcAft>
              <a:tabLst/>
            </a:pPr>
            <a:r>
              <a:rPr lang="en-GB" sz="1600" b="1" u="sng"/>
              <a:t>Lowlights</a:t>
            </a:r>
            <a:r>
              <a:rPr lang="zh-CN" altLang="en-US" sz="1600" b="1" u="sng"/>
              <a:t>不足</a:t>
            </a:r>
            <a:endParaRPr lang="en-GB" sz="1400">
              <a:sym typeface="Wingdings" panose="05000000000000000000" pitchFamily="2" charset="2"/>
            </a:endParaRPr>
          </a:p>
          <a:p>
            <a:pPr marL="646112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de-DE" sz="1400"/>
              <a:t>Hydraulic Filter Package: The filter blockage / bypass indicator components do not function properly under hot weather conditions</a:t>
            </a:r>
          </a:p>
          <a:p>
            <a:pPr marL="360362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1400"/>
              <a:t>      </a:t>
            </a:r>
            <a:r>
              <a:rPr lang="de-DE" sz="1400">
                <a:sym typeface="Wingdings" panose="05000000000000000000" pitchFamily="2" charset="2"/>
              </a:rPr>
              <a:t></a:t>
            </a:r>
            <a:r>
              <a:rPr lang="de-DE" sz="1400"/>
              <a:t> Parts are already changed and flight test is continouing 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      液压过滤组件：滤芯堵塞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/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旁通指示部件在高温天气条件下无法正常工作</a:t>
            </a:r>
            <a:r>
              <a:rPr lang="de-DE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相关零件已更换，飞行测试仍在进行中</a:t>
            </a:r>
            <a:endParaRPr lang="de-DE" sz="1400">
              <a:solidFill>
                <a:srgbClr val="808080"/>
              </a:solidFill>
              <a:ea typeface="Arial" panose="020B0604020202020204" pitchFamily="34" charset="0"/>
              <a:sym typeface="Wingdings" panose="05000000000000000000" pitchFamily="2" charset="2"/>
            </a:endParaRPr>
          </a:p>
          <a:p>
            <a:pPr marL="646112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>
                <a:sym typeface="Wingdings" panose="05000000000000000000" pitchFamily="2" charset="2"/>
              </a:rPr>
              <a:t>Engineers for FCS are not fully engaged in develop FECU &amp; PTECU since export control issue is still blocked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      由于出口管制问题尚未解决，飞控系统工程师未能完全投入到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FECU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和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PTECU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的开发工作中</a:t>
            </a:r>
            <a:endParaRPr lang="en-US" sz="1400">
              <a:solidFill>
                <a:srgbClr val="808080"/>
              </a:solidFill>
              <a:ea typeface="Arial" panose="020B0604020202020204" pitchFamily="34" charset="0"/>
              <a:sym typeface="Wingdings" panose="05000000000000000000" pitchFamily="2" charset="2"/>
            </a:endParaRPr>
          </a:p>
          <a:p>
            <a:pPr marL="646112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>
                <a:sym typeface="Wingdings" panose="05000000000000000000" pitchFamily="2" charset="2"/>
              </a:rPr>
              <a:t>Supplier SSP is not willing to do bug fixing on the Nose Wheel Steering Control Unit SW for free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en-US" sz="1400">
                <a:sym typeface="Wingdings" panose="05000000000000000000" pitchFamily="2" charset="2"/>
              </a:rPr>
              <a:t>      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供应商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SPP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不愿免费修复前轮转弯控制单元的软件漏洞</a:t>
            </a:r>
            <a:endParaRPr lang="en-US" sz="1400">
              <a:solidFill>
                <a:srgbClr val="808080"/>
              </a:solidFill>
              <a:ea typeface="Arial" panose="020B0604020202020204" pitchFamily="34" charset="0"/>
              <a:sym typeface="Wingdings" panose="05000000000000000000" pitchFamily="2" charset="2"/>
            </a:endParaRPr>
          </a:p>
          <a:p>
            <a:pPr marL="646112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>
                <a:sym typeface="Wingdings" panose="05000000000000000000" pitchFamily="2" charset="2"/>
              </a:rPr>
              <a:t>CW (Curtiss Wright) is still working on an answer when we can get the repaired DAU back</a:t>
            </a:r>
          </a:p>
          <a:p>
            <a:pPr marL="358775" indent="0">
              <a:spcBef>
                <a:spcPts val="600"/>
              </a:spcBef>
              <a:spcAft>
                <a:spcPts val="0"/>
              </a:spcAft>
              <a:buNone/>
              <a:tabLst/>
            </a:pP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      关于修复后的</a:t>
            </a:r>
            <a:r>
              <a:rPr lang="en-US" altLang="zh-CN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DAU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何时能够返还一事，</a:t>
            </a:r>
            <a:r>
              <a:rPr 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CW (Curtiss Wright)</a:t>
            </a:r>
            <a:r>
              <a:rPr lang="zh-CN" altLang="en-US" sz="1400">
                <a:solidFill>
                  <a:srgbClr val="808080"/>
                </a:solidFill>
                <a:ea typeface="Arial" panose="020B0604020202020204" pitchFamily="34" charset="0"/>
                <a:sym typeface="Wingdings" panose="05000000000000000000" pitchFamily="2" charset="2"/>
              </a:rPr>
              <a:t>仍在研究中</a:t>
            </a:r>
            <a:endParaRPr lang="en-US" sz="1400">
              <a:solidFill>
                <a:srgbClr val="808080"/>
              </a:solidFill>
              <a:ea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Weekly Highlights / Lowlights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ABD9C-DAF7-ACDE-E59A-398F2DE83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1400" b="1"/>
              <a:t>Program risks are outlined in program risk file</a:t>
            </a:r>
            <a:endParaRPr lang="x-none" sz="1400" b="1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803A80D5-3733-56BC-35DE-6A2A1935AA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4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lIns="109728" tIns="54864" rIns="109728" bIns="54864" anchor="ctr"/>
          <a:lstStyle/>
          <a:p>
            <a:r>
              <a:rPr lang="en-GB"/>
              <a:t>Status SN1002/ SN1003/ SN1004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quarter" idx="12"/>
          </p:nvPr>
        </p:nvSpPr>
        <p:spPr>
          <a:xfrm>
            <a:off x="201023" y="683425"/>
            <a:ext cx="11394848" cy="5623590"/>
          </a:xfrm>
          <a:prstGeom prst="rect">
            <a:avLst/>
          </a:prstGeom>
        </p:spPr>
        <p:txBody>
          <a:bodyPr/>
          <a:lstStyle/>
          <a:p>
            <a:pPr marL="605790" indent="-285750">
              <a:lnSpc>
                <a:spcPct val="150000"/>
              </a:lnSpc>
              <a:spcBef>
                <a:spcPts val="0"/>
              </a:spcBef>
              <a:spcAft>
                <a:spcPts val="540"/>
              </a:spcAft>
              <a:buFont typeface="Wingdings" panose="05000000000000000000" pitchFamily="2" charset="2"/>
              <a:buChar char="§"/>
            </a:pPr>
            <a:r>
              <a:rPr lang="en-GB" sz="1600" b="1" u="sng">
                <a:solidFill>
                  <a:srgbClr val="002060"/>
                </a:solidFill>
              </a:rPr>
              <a:t>SN1002:</a:t>
            </a:r>
          </a:p>
          <a:p>
            <a:pPr marL="1074738" lvl="3" indent="-268288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altLang="zh-CN" sz="1200">
                <a:cs typeface="Arial"/>
              </a:rPr>
              <a:t>Contract for ‘trust company’ available </a:t>
            </a:r>
            <a:r>
              <a:rPr lang="en-GB" altLang="zh-CN" sz="1200">
                <a:cs typeface="Arial"/>
                <a:sym typeface="Wingdings" panose="05000000000000000000" pitchFamily="2" charset="2"/>
              </a:rPr>
              <a:t> no management decision available  will be reported in shareholder meeting</a:t>
            </a:r>
          </a:p>
          <a:p>
            <a:pPr marL="1078865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808080"/>
                </a:solidFill>
              </a:rPr>
              <a:t>与飞机代持的可信公司的合同已就绪已准备就绪 → 仍待管理层决策→ 将在股东会议中汇报</a:t>
            </a:r>
            <a:endParaRPr lang="en-GB" altLang="zh-CN" sz="1200">
              <a:solidFill>
                <a:srgbClr val="808080"/>
              </a:solidFill>
              <a:cs typeface="Arial" panose="020B0604020202020204"/>
            </a:endParaRPr>
          </a:p>
          <a:p>
            <a:pPr marL="1074420" lvl="3" indent="-26797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altLang="zh-CN" sz="1200">
                <a:cs typeface="Arial"/>
                <a:sym typeface="Wingdings" panose="05000000000000000000" pitchFamily="2" charset="2"/>
              </a:rPr>
              <a:t>As long as this issue is not solved, SN1002 is grounded, following risks:</a:t>
            </a:r>
            <a:endParaRPr lang="en-GB" altLang="zh-CN" sz="1200">
              <a:cs typeface="Arial"/>
            </a:endParaRPr>
          </a:p>
          <a:p>
            <a:pPr marL="107899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808080"/>
                </a:solidFill>
                <a:sym typeface="Wingdings" panose="05000000000000000000" pitchFamily="2" charset="2"/>
              </a:rPr>
              <a:t>若此问题不解决，</a:t>
            </a:r>
            <a:r>
              <a:rPr lang="en-US" altLang="zh-CN" sz="1200">
                <a:solidFill>
                  <a:srgbClr val="808080"/>
                </a:solidFill>
                <a:sym typeface="Wingdings" panose="05000000000000000000" pitchFamily="2" charset="2"/>
              </a:rPr>
              <a:t>SN1002</a:t>
            </a:r>
            <a:r>
              <a:rPr lang="zh-CN" altLang="en-US" sz="1200">
                <a:solidFill>
                  <a:srgbClr val="808080"/>
                </a:solidFill>
                <a:sym typeface="Wingdings" panose="05000000000000000000" pitchFamily="2" charset="2"/>
              </a:rPr>
              <a:t>只能停飞，存在如下风险</a:t>
            </a:r>
            <a:endParaRPr lang="en-GB" altLang="zh-CN" sz="1200">
              <a:solidFill>
                <a:srgbClr val="808080"/>
              </a:solidFill>
              <a:sym typeface="Wingdings" panose="05000000000000000000" pitchFamily="2" charset="2"/>
            </a:endParaRPr>
          </a:p>
          <a:p>
            <a:pPr marL="1074420" lvl="3" indent="-26797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altLang="zh-CN" sz="1200" b="1">
                <a:cs typeface="Arial"/>
                <a:sym typeface="Wingdings" panose="05000000000000000000" pitchFamily="2" charset="2"/>
              </a:rPr>
              <a:t>Since we do not have a valid(!) owner, the Aircraft registration is on very high risk</a:t>
            </a:r>
            <a:endParaRPr lang="en-GB" altLang="zh-CN" sz="1200" b="1">
              <a:cs typeface="Arial"/>
            </a:endParaRPr>
          </a:p>
          <a:p>
            <a:pPr marL="107899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808080"/>
                </a:solidFill>
              </a:rPr>
              <a:t>由于目前没有有效的（！）所有人，飞机注册面临极高风险</a:t>
            </a:r>
            <a:endParaRPr lang="en-GB" altLang="zh-CN" sz="1200">
              <a:solidFill>
                <a:srgbClr val="808080"/>
              </a:solidFill>
              <a:sym typeface="Wingdings" panose="05000000000000000000" pitchFamily="2" charset="2"/>
            </a:endParaRPr>
          </a:p>
          <a:p>
            <a:pPr marL="1074420" lvl="3" indent="-26797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altLang="zh-CN" sz="1200" b="1">
                <a:cs typeface="Arial"/>
                <a:sym typeface="Wingdings" panose="05000000000000000000" pitchFamily="2" charset="2"/>
              </a:rPr>
              <a:t>Once the registration is lost, it would be a very high effort and very high costs to get it back into operation</a:t>
            </a:r>
            <a:endParaRPr lang="en-GB" altLang="zh-CN" sz="1200" b="1">
              <a:cs typeface="Arial"/>
            </a:endParaRPr>
          </a:p>
          <a:p>
            <a:pPr marL="1078992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808080"/>
                </a:solidFill>
              </a:rPr>
              <a:t>一旦注册被取消，重新恢复运行将需要极大的工作量和极高的成本</a:t>
            </a:r>
            <a:endParaRPr lang="en-GB" sz="1200"/>
          </a:p>
          <a:p>
            <a:pPr marL="605790" indent="-285750">
              <a:lnSpc>
                <a:spcPct val="150000"/>
              </a:lnSpc>
              <a:spcBef>
                <a:spcPts val="0"/>
              </a:spcBef>
              <a:spcAft>
                <a:spcPts val="540"/>
              </a:spcAft>
              <a:buFont typeface="Wingdings" panose="05000000000000000000" pitchFamily="2" charset="2"/>
              <a:buChar char="§"/>
            </a:pPr>
            <a:r>
              <a:rPr lang="en-GB" sz="1600" b="1" u="sng">
                <a:solidFill>
                  <a:srgbClr val="002060"/>
                </a:solidFill>
              </a:rPr>
              <a:t>SN1003:</a:t>
            </a:r>
            <a:endParaRPr lang="en-GB" sz="1600" u="sng">
              <a:solidFill>
                <a:srgbClr val="002060"/>
              </a:solidFill>
            </a:endParaRPr>
          </a:p>
          <a:p>
            <a:pPr marL="806450" lvl="2" indent="-1762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2060"/>
                </a:solidFill>
              </a:rPr>
              <a:t>    </a:t>
            </a:r>
            <a:r>
              <a:rPr lang="en-GB" sz="1400" u="sng">
                <a:solidFill>
                  <a:srgbClr val="002060"/>
                </a:solidFill>
              </a:rPr>
              <a:t>Status:</a:t>
            </a:r>
            <a:endParaRPr lang="en-GB" sz="1400" u="sng">
              <a:solidFill>
                <a:srgbClr val="002060"/>
              </a:solidFill>
              <a:cs typeface="Arial"/>
            </a:endParaRPr>
          </a:p>
          <a:p>
            <a:pPr marL="1074738" lvl="3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>
                <a:cs typeface="Arial"/>
                <a:sym typeface="Wingdings" panose="05000000000000000000" pitchFamily="2" charset="2"/>
              </a:rPr>
              <a:t>Annual inspection ongoing since aircraft is grounded due to ADAU repair (low priority)</a:t>
            </a:r>
          </a:p>
          <a:p>
            <a:pPr marL="806450" lvl="3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>
                <a:solidFill>
                  <a:srgbClr val="808080"/>
                </a:solidFill>
              </a:rPr>
              <a:t>      由于</a:t>
            </a:r>
            <a:r>
              <a:rPr lang="en-US" altLang="zh-CN" sz="1200">
                <a:solidFill>
                  <a:srgbClr val="808080"/>
                </a:solidFill>
              </a:rPr>
              <a:t>ADAU</a:t>
            </a:r>
            <a:r>
              <a:rPr lang="zh-CN" altLang="en-US" sz="1200">
                <a:solidFill>
                  <a:srgbClr val="808080"/>
                </a:solidFill>
              </a:rPr>
              <a:t>维修导致飞机停飞，年检工作正在进行中（优先级低）</a:t>
            </a:r>
            <a:endParaRPr lang="en-US" sz="1200">
              <a:cs typeface="Arial"/>
              <a:sym typeface="Wingdings" panose="05000000000000000000" pitchFamily="2" charset="2"/>
            </a:endParaRPr>
          </a:p>
          <a:p>
            <a:pPr marL="1074738" lvl="3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>
                <a:cs typeface="Arial"/>
                <a:sym typeface="Wingdings" panose="05000000000000000000" pitchFamily="2" charset="2"/>
              </a:rPr>
              <a:t>Follow-up on repair status from Procurement</a:t>
            </a:r>
          </a:p>
          <a:p>
            <a:pPr marL="806450" lvl="3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cs typeface="Arial"/>
                <a:sym typeface="Wingdings" panose="05000000000000000000" pitchFamily="2" charset="2"/>
              </a:rPr>
              <a:t>      </a:t>
            </a:r>
            <a:r>
              <a:rPr lang="zh-CN" altLang="en-US" sz="1200">
                <a:solidFill>
                  <a:srgbClr val="808080"/>
                </a:solidFill>
                <a:sym typeface="Wingdings" panose="05000000000000000000" pitchFamily="2" charset="2"/>
              </a:rPr>
              <a:t>采购部关于维修状态的后续跟进</a:t>
            </a:r>
            <a:endParaRPr lang="en-US" sz="1200">
              <a:solidFill>
                <a:srgbClr val="808080"/>
              </a:solidFill>
              <a:sym typeface="Wingdings" panose="05000000000000000000" pitchFamily="2" charset="2"/>
            </a:endParaRPr>
          </a:p>
          <a:p>
            <a:pPr marL="1074738" lvl="3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>
                <a:cs typeface="Arial"/>
                <a:sym typeface="Wingdings" panose="05000000000000000000" pitchFamily="2" charset="2"/>
              </a:rPr>
              <a:t>ADAU still not repaired</a:t>
            </a:r>
          </a:p>
          <a:p>
            <a:pPr marL="806450" lvl="3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cs typeface="Arial"/>
                <a:sym typeface="Wingdings" panose="05000000000000000000" pitchFamily="2" charset="2"/>
              </a:rPr>
              <a:t>      </a:t>
            </a:r>
            <a:r>
              <a:rPr lang="en-US" altLang="zh-CN" sz="1200">
                <a:solidFill>
                  <a:srgbClr val="808080"/>
                </a:solidFill>
                <a:sym typeface="Wingdings" panose="05000000000000000000" pitchFamily="2" charset="2"/>
              </a:rPr>
              <a:t>ADAU</a:t>
            </a:r>
            <a:r>
              <a:rPr lang="zh-CN" altLang="en-US" sz="1200">
                <a:solidFill>
                  <a:srgbClr val="808080"/>
                </a:solidFill>
                <a:sym typeface="Wingdings" panose="05000000000000000000" pitchFamily="2" charset="2"/>
              </a:rPr>
              <a:t>仍然没有修好</a:t>
            </a:r>
            <a:endParaRPr lang="en-US" sz="1200">
              <a:solidFill>
                <a:srgbClr val="808080"/>
              </a:solidFill>
              <a:sym typeface="Wingdings" panose="05000000000000000000" pitchFamily="2" charset="2"/>
            </a:endParaRPr>
          </a:p>
          <a:p>
            <a:pPr marL="605790" lvl="1" indent="-285750">
              <a:lnSpc>
                <a:spcPct val="150000"/>
              </a:lnSpc>
              <a:spcBef>
                <a:spcPts val="0"/>
              </a:spcBef>
              <a:spcAft>
                <a:spcPts val="540"/>
              </a:spcAft>
              <a:buFont typeface="Wingdings" panose="05000000000000000000" pitchFamily="2" charset="2"/>
              <a:buChar char="§"/>
              <a:tabLst>
                <a:tab pos="161449" algn="l"/>
              </a:tabLst>
            </a:pPr>
            <a:r>
              <a:rPr lang="en-GB" sz="1600" b="1" u="sng">
                <a:solidFill>
                  <a:srgbClr val="002060"/>
                </a:solidFill>
              </a:rPr>
              <a:t>SN1004:</a:t>
            </a:r>
          </a:p>
          <a:p>
            <a:pPr marL="898525" lvl="2" indent="-2682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61449" algn="l"/>
              </a:tabLst>
            </a:pPr>
            <a:r>
              <a:rPr lang="en-GB" sz="1400">
                <a:solidFill>
                  <a:srgbClr val="002060"/>
                </a:solidFill>
              </a:rPr>
              <a:t>    </a:t>
            </a:r>
            <a:r>
              <a:rPr lang="en-GB" sz="1400" u="sng">
                <a:solidFill>
                  <a:srgbClr val="002060"/>
                </a:solidFill>
              </a:rPr>
              <a:t>Status:</a:t>
            </a:r>
          </a:p>
          <a:p>
            <a:pPr marL="1076325" lvl="2" indent="-2698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161449" algn="l"/>
              </a:tabLst>
            </a:pPr>
            <a:r>
              <a:rPr lang="en-US" sz="1200">
                <a:cs typeface="Arial"/>
                <a:sym typeface="Wingdings" panose="05000000000000000000" pitchFamily="2" charset="2"/>
              </a:rPr>
              <a:t>Content freeze test flight started with one week of delay  recovery is underway</a:t>
            </a:r>
          </a:p>
          <a:p>
            <a:pPr marL="806450" lvl="2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61449" algn="l"/>
              </a:tabLst>
            </a:pPr>
            <a:r>
              <a:rPr lang="en-US" sz="1200">
                <a:cs typeface="Arial"/>
                <a:sym typeface="Wingdings" panose="05000000000000000000" pitchFamily="2" charset="2"/>
              </a:rPr>
              <a:t>      </a:t>
            </a:r>
            <a:r>
              <a:rPr lang="zh-CN" altLang="en-US" sz="1200">
                <a:solidFill>
                  <a:srgbClr val="808080"/>
                </a:solidFill>
                <a:sym typeface="Wingdings" panose="05000000000000000000" pitchFamily="2" charset="2"/>
              </a:rPr>
              <a:t>内容冻结试飞工作已启动，较原计划延迟一周，目前正在追赶进度</a:t>
            </a:r>
            <a:endParaRPr lang="en-US" sz="1200">
              <a:solidFill>
                <a:srgbClr val="808080"/>
              </a:solidFill>
              <a:sym typeface="Wingdings" panose="05000000000000000000" pitchFamily="2" charset="2"/>
            </a:endParaRPr>
          </a:p>
          <a:p>
            <a:pPr marL="1076325" lvl="2" indent="-26987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161449" algn="l"/>
              </a:tabLst>
            </a:pPr>
            <a:endParaRPr lang="en-US" sz="1200">
              <a:cs typeface="Arial"/>
              <a:sym typeface="Wingdings" panose="05000000000000000000" pitchFamily="2" charset="2"/>
            </a:endParaRPr>
          </a:p>
        </p:txBody>
      </p:sp>
      <p:cxnSp>
        <p:nvCxnSpPr>
          <p:cNvPr id="4" name="Gerader Verbinder 3"/>
          <p:cNvCxnSpPr>
            <a:cxnSpLocks/>
          </p:cNvCxnSpPr>
          <p:nvPr/>
        </p:nvCxnSpPr>
        <p:spPr bwMode="auto">
          <a:xfrm>
            <a:off x="546758" y="2684721"/>
            <a:ext cx="1036547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Gerader Verbinder 3"/>
          <p:cNvCxnSpPr>
            <a:cxnSpLocks/>
          </p:cNvCxnSpPr>
          <p:nvPr/>
        </p:nvCxnSpPr>
        <p:spPr bwMode="auto">
          <a:xfrm>
            <a:off x="522905" y="5079930"/>
            <a:ext cx="1038932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0FE9AB51-CBEE-C7FE-6B17-1BF5A7D22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3516" y="21648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DE" altLang="en-DE" sz="1100" b="0" i="0" u="none" strike="noStrike" cap="none" normalizeH="0" baseline="0">
                <a:ln>
                  <a:noFill/>
                </a:ln>
                <a:solidFill>
                  <a:srgbClr val="174E8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8B4168-EAB5-D47B-6F29-1FCD16311012}"/>
              </a:ext>
            </a:extLst>
          </p:cNvPr>
          <p:cNvSpPr/>
          <p:nvPr/>
        </p:nvSpPr>
        <p:spPr bwMode="auto">
          <a:xfrm rot="1000326">
            <a:off x="4474460" y="1374508"/>
            <a:ext cx="2991792" cy="1124029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latin typeface="Arial" pitchFamily="34" charset="0"/>
              </a:rPr>
              <a:t>No change</a:t>
            </a:r>
          </a:p>
          <a:p>
            <a:pPr marL="0" marR="0" indent="0" algn="ctr" defTabSz="1041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Needs to be solved before </a:t>
            </a:r>
            <a:r>
              <a:rPr lang="de-DE" sz="1200">
                <a:latin typeface="Arial" pitchFamily="34" charset="0"/>
              </a:rPr>
              <a:t>ferry flight</a:t>
            </a:r>
          </a:p>
          <a:p>
            <a:pPr marL="0" marR="0" indent="0" algn="ctr" defTabSz="1041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Topic for upcoming Board Meeting</a:t>
            </a:r>
          </a:p>
          <a:p>
            <a:pPr marL="0" marR="0" indent="0" algn="ctr" defTabSz="1041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>
                <a:latin typeface="Arial" pitchFamily="34" charset="0"/>
              </a:rPr>
              <a:t>无变化</a:t>
            </a:r>
            <a:endParaRPr lang="en-US" altLang="zh-CN" sz="1200">
              <a:latin typeface="Arial" pitchFamily="34" charset="0"/>
            </a:endParaRPr>
          </a:p>
          <a:p>
            <a:pPr marL="0" marR="0" indent="0" algn="ctr" defTabSz="1041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需在转场飞行前解决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indent="0" algn="ctr" defTabSz="1041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即将召开的董事会议题</a:t>
            </a:r>
            <a:endParaRPr kumimoji="0" 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CC9589-DC0E-11B5-55EA-1571D4E0B584}"/>
              </a:ext>
            </a:extLst>
          </p:cNvPr>
          <p:cNvSpPr/>
          <p:nvPr/>
        </p:nvSpPr>
        <p:spPr bwMode="auto">
          <a:xfrm rot="1000326">
            <a:off x="5854224" y="3963788"/>
            <a:ext cx="2150988" cy="60376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latin typeface="Arial" pitchFamily="34" charset="0"/>
              </a:rPr>
              <a:t>No change since </a:t>
            </a: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de-DE" sz="1200">
                <a:latin typeface="Arial" pitchFamily="34" charset="0"/>
              </a:rPr>
              <a:t>ADAU is in repair</a:t>
            </a: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Arial" pitchFamily="34" charset="0"/>
              </a:rPr>
              <a:t>无变化，因为</a:t>
            </a:r>
            <a:r>
              <a:rPr lang="en-US" altLang="zh-CN" sz="1200">
                <a:latin typeface="Arial" pitchFamily="34" charset="0"/>
              </a:rPr>
              <a:t>ADAU</a:t>
            </a:r>
            <a:r>
              <a:rPr lang="zh-CN" altLang="en-US" sz="1200">
                <a:latin typeface="Arial" pitchFamily="34" charset="0"/>
              </a:rPr>
              <a:t>正在维修</a:t>
            </a:r>
            <a:endParaRPr lang="de-DE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63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Flight Test Program Progress</a:t>
            </a:r>
            <a:endParaRPr lang="de-DE"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4ED547-77C5-98BF-2B61-E92546962B8F}"/>
              </a:ext>
            </a:extLst>
          </p:cNvPr>
          <p:cNvSpPr txBox="1"/>
          <p:nvPr/>
        </p:nvSpPr>
        <p:spPr>
          <a:xfrm>
            <a:off x="334432" y="1033735"/>
            <a:ext cx="11237723" cy="33855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>
                <a:solidFill>
                  <a:srgbClr val="002060"/>
                </a:solidFill>
              </a:rPr>
              <a:t>Flight Test Status</a:t>
            </a:r>
            <a:endParaRPr lang="x-none" sz="1600" b="1">
              <a:solidFill>
                <a:srgbClr val="00206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526854"/>
              </p:ext>
            </p:extLst>
          </p:nvPr>
        </p:nvGraphicFramePr>
        <p:xfrm>
          <a:off x="9884" y="1623798"/>
          <a:ext cx="3718668" cy="2130620"/>
        </p:xfrm>
        <a:graphic>
          <a:graphicData uri="http://schemas.openxmlformats.org/drawingml/2006/table">
            <a:tbl>
              <a:tblPr/>
              <a:tblGrid>
                <a:gridCol w="883578">
                  <a:extLst>
                    <a:ext uri="{9D8B030D-6E8A-4147-A177-3AD203B41FA5}">
                      <a16:colId xmlns:a16="http://schemas.microsoft.com/office/drawing/2014/main" val="2280029806"/>
                    </a:ext>
                  </a:extLst>
                </a:gridCol>
                <a:gridCol w="1328328">
                  <a:extLst>
                    <a:ext uri="{9D8B030D-6E8A-4147-A177-3AD203B41FA5}">
                      <a16:colId xmlns:a16="http://schemas.microsoft.com/office/drawing/2014/main" val="2554911722"/>
                    </a:ext>
                  </a:extLst>
                </a:gridCol>
                <a:gridCol w="1506762">
                  <a:extLst>
                    <a:ext uri="{9D8B030D-6E8A-4147-A177-3AD203B41FA5}">
                      <a16:colId xmlns:a16="http://schemas.microsoft.com/office/drawing/2014/main" val="1257157249"/>
                    </a:ext>
                  </a:extLst>
                </a:gridCol>
              </a:tblGrid>
              <a:tr h="21050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Overview</a:t>
                      </a:r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26/0</a:t>
                      </a:r>
                      <a:r>
                        <a:rPr lang="en-US" altLang="zh-CN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6</a:t>
                      </a:r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/26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25302"/>
                  </a:ext>
                </a:extLst>
              </a:tr>
              <a:tr h="230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WEEKLY </a:t>
                      </a:r>
                    </a:p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周度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SN1003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SN1004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29610"/>
                  </a:ext>
                </a:extLst>
              </a:tr>
              <a:tr h="3453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Monday  </a:t>
                      </a:r>
                    </a:p>
                    <a:p>
                      <a:pPr algn="ctr" fontAlgn="ctr"/>
                      <a:r>
                        <a:rPr lang="zh-CN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周一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1143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200FH&amp;Year</a:t>
                      </a:r>
                      <a:r>
                        <a:rPr kumimoji="0" lang="zh-CN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kumimoji="0" lang="en-US" altLang="zh-CN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</a:t>
                      </a:r>
                      <a:r>
                        <a:rPr kumimoji="0" lang="zh-CN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小时及年检维护</a:t>
                      </a:r>
                      <a:endParaRPr lang="en-US" altLang="zh-CN" sz="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1*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Flight  Test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Shakedown &amp; Software Check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​1*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飞行测试：系统调试与软件检查</a:t>
                      </a:r>
                      <a:endParaRPr kumimoji="0" 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973283"/>
                  </a:ext>
                </a:extLst>
              </a:tr>
              <a:tr h="308370">
                <a:tc>
                  <a:txBody>
                    <a:bodyPr/>
                    <a:lstStyle/>
                    <a:p>
                      <a:pPr marL="0" algn="ctr" defTabSz="958038" rtl="0" eaLnBrk="1" fontAlgn="ctr" latinLnBrk="0" hangingPunct="1"/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Tuesday  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周二</a:t>
                      </a:r>
                      <a:endParaRPr lang="en-US" sz="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1143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200FH&amp;Year</a:t>
                      </a:r>
                      <a:r>
                        <a:rPr kumimoji="0" lang="zh-CN" altLang="en-US" sz="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kumimoji="0" lang="en-US" altLang="zh-CN" sz="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</a:t>
                      </a:r>
                      <a:r>
                        <a:rPr kumimoji="0" lang="zh-CN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小时及年检维护</a:t>
                      </a:r>
                      <a:endParaRPr kumimoji="0" lang="en-US" altLang="zh-CN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2*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Flight  Tests SW Content Freeze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2*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飞行测试：软件内容冻结</a:t>
                      </a:r>
                      <a:endParaRPr kumimoji="0" 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47515"/>
                  </a:ext>
                </a:extLst>
              </a:tr>
              <a:tr h="345374"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Wednesday  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周三</a:t>
                      </a:r>
                      <a:endParaRPr lang="en-US" sz="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1143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200FH&amp;Year</a:t>
                      </a:r>
                      <a:r>
                        <a:rPr kumimoji="0" lang="zh-CN" altLang="en-US" sz="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kumimoji="0" lang="en-US" altLang="zh-CN" sz="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</a:t>
                      </a:r>
                      <a:r>
                        <a:rPr kumimoji="0" lang="zh-CN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小时及年检维护</a:t>
                      </a:r>
                      <a:endParaRPr kumimoji="0" lang="en-US" altLang="zh-CN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2*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Flight  Test ICS </a:t>
                      </a:r>
                      <a:r>
                        <a:rPr kumimoji="0" lang="en-US" altLang="zh-CN" sz="6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Certification+SW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Content Freeze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2*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飞行测试：</a:t>
                      </a:r>
                      <a:r>
                        <a:rPr kumimoji="0" lang="en-US" altLang="zh-CN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ICS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认证</a:t>
                      </a:r>
                      <a:r>
                        <a:rPr kumimoji="0" lang="en-US" altLang="zh-CN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+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软件内容冻结</a:t>
                      </a:r>
                      <a:endParaRPr kumimoji="0" 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391374"/>
                  </a:ext>
                </a:extLst>
              </a:tr>
              <a:tr h="345374"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Thursday</a:t>
                      </a:r>
                      <a:r>
                        <a:rPr lang="en-US" altLang="zh-CN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 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周四</a:t>
                      </a:r>
                      <a:endParaRPr lang="en-US" sz="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1143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200FH&amp;Year</a:t>
                      </a:r>
                      <a:r>
                        <a:rPr kumimoji="0" lang="zh-CN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kumimoji="0" lang="en-US" altLang="zh-CN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</a:t>
                      </a:r>
                      <a:r>
                        <a:rPr kumimoji="0" lang="zh-CN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小时及年检维护</a:t>
                      </a:r>
                      <a:endParaRPr kumimoji="0" lang="en-US" altLang="zh-C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1*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Flight  Test VHF </a:t>
                      </a:r>
                      <a:r>
                        <a:rPr kumimoji="0" lang="en-US" altLang="zh-CN" sz="600" b="1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Certification+SW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Content Freeze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​1*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飞行测试：</a:t>
                      </a:r>
                      <a:r>
                        <a:rPr kumimoji="0" lang="en-US" altLang="zh-CN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VHF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认证</a:t>
                      </a:r>
                      <a:r>
                        <a:rPr kumimoji="0" lang="en-US" altLang="zh-CN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+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软件内容冻结</a:t>
                      </a:r>
                      <a:endParaRPr kumimoji="0" 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210601"/>
                  </a:ext>
                </a:extLst>
              </a:tr>
              <a:tr h="345374"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Friday </a:t>
                      </a:r>
                      <a:r>
                        <a:rPr lang="en-US" altLang="zh-CN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周五</a:t>
                      </a:r>
                      <a:endParaRPr lang="en-US" sz="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1143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200FH&amp;Year</a:t>
                      </a:r>
                      <a:r>
                        <a:rPr kumimoji="0" lang="zh-CN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kumimoji="0" lang="en-US" altLang="zh-CN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Maintenance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200</a:t>
                      </a:r>
                      <a:r>
                        <a:rPr kumimoji="0" lang="zh-CN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小时及年检维护</a:t>
                      </a:r>
                      <a:endParaRPr lang="en-US" altLang="zh-CN" sz="6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1*</a:t>
                      </a:r>
                      <a:r>
                        <a:rPr kumimoji="0" lang="en-US" altLang="zh-CN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Flight  Test Dual FMS for SW Content Freeze</a:t>
                      </a:r>
                      <a:endParaRPr kumimoji="0" lang="en-US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1*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飞行测试：双</a:t>
                      </a:r>
                      <a:r>
                        <a:rPr kumimoji="0" lang="en-US" altLang="zh-CN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FMS</a:t>
                      </a:r>
                      <a:r>
                        <a:rPr kumimoji="0" lang="zh-CN" altLang="en-US" sz="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软件内容冻结</a:t>
                      </a:r>
                      <a:endParaRPr kumimoji="0" lang="en-US" altLang="zh-CN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70975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2672"/>
              </p:ext>
            </p:extLst>
          </p:nvPr>
        </p:nvGraphicFramePr>
        <p:xfrm>
          <a:off x="3872244" y="1623798"/>
          <a:ext cx="3718665" cy="1721828"/>
        </p:xfrm>
        <a:graphic>
          <a:graphicData uri="http://schemas.openxmlformats.org/drawingml/2006/table">
            <a:tbl>
              <a:tblPr/>
              <a:tblGrid>
                <a:gridCol w="296177">
                  <a:extLst>
                    <a:ext uri="{9D8B030D-6E8A-4147-A177-3AD203B41FA5}">
                      <a16:colId xmlns:a16="http://schemas.microsoft.com/office/drawing/2014/main" val="2522684111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2219374797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1140744732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1070203658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3372308307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3407550687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810028747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2069150472"/>
                    </a:ext>
                  </a:extLst>
                </a:gridCol>
                <a:gridCol w="427811">
                  <a:extLst>
                    <a:ext uri="{9D8B030D-6E8A-4147-A177-3AD203B41FA5}">
                      <a16:colId xmlns:a16="http://schemas.microsoft.com/office/drawing/2014/main" val="3994670584"/>
                    </a:ext>
                  </a:extLst>
                </a:gridCol>
              </a:tblGrid>
              <a:tr h="324923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hours </a:t>
                      </a:r>
                      <a:r>
                        <a:rPr lang="zh-CN" alt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飞行小时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7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Flights </a:t>
                      </a:r>
                      <a:r>
                        <a:rPr lang="zh-CN" alt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次数</a:t>
                      </a:r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24865"/>
                  </a:ext>
                </a:extLst>
              </a:tr>
              <a:tr h="4221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Total</a:t>
                      </a:r>
                    </a:p>
                    <a:p>
                      <a:pPr algn="ctr" fontAlgn="ctr"/>
                      <a:r>
                        <a:rPr lang="zh-CN" alt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累计</a:t>
                      </a:r>
                      <a:endParaRPr lang="en-US" sz="6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  <a:p>
                      <a:pPr algn="ctr" fontAlgn="ctr"/>
                      <a:r>
                        <a:rPr lang="zh-CN" alt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累计</a:t>
                      </a:r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971642"/>
                  </a:ext>
                </a:extLst>
              </a:tr>
              <a:tr h="324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49:32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0:00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1237:09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07316"/>
                  </a:ext>
                </a:extLst>
              </a:tr>
              <a:tr h="324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16:31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64:32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198:27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698415"/>
                  </a:ext>
                </a:extLst>
              </a:tr>
              <a:tr h="324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27:52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80:52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7:28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116:12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6431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877790"/>
              </p:ext>
            </p:extLst>
          </p:nvPr>
        </p:nvGraphicFramePr>
        <p:xfrm>
          <a:off x="7646437" y="1623798"/>
          <a:ext cx="3925721" cy="1805201"/>
        </p:xfrm>
        <a:graphic>
          <a:graphicData uri="http://schemas.openxmlformats.org/drawingml/2006/table">
            <a:tbl>
              <a:tblPr/>
              <a:tblGrid>
                <a:gridCol w="570525">
                  <a:extLst>
                    <a:ext uri="{9D8B030D-6E8A-4147-A177-3AD203B41FA5}">
                      <a16:colId xmlns:a16="http://schemas.microsoft.com/office/drawing/2014/main" val="1527544510"/>
                    </a:ext>
                  </a:extLst>
                </a:gridCol>
                <a:gridCol w="190175">
                  <a:extLst>
                    <a:ext uri="{9D8B030D-6E8A-4147-A177-3AD203B41FA5}">
                      <a16:colId xmlns:a16="http://schemas.microsoft.com/office/drawing/2014/main" val="7729656"/>
                    </a:ext>
                  </a:extLst>
                </a:gridCol>
                <a:gridCol w="355583">
                  <a:extLst>
                    <a:ext uri="{9D8B030D-6E8A-4147-A177-3AD203B41FA5}">
                      <a16:colId xmlns:a16="http://schemas.microsoft.com/office/drawing/2014/main" val="2006700861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1689061893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2988913559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2110613354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391518559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879550473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2067712010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3247599906"/>
                    </a:ext>
                  </a:extLst>
                </a:gridCol>
                <a:gridCol w="471410">
                  <a:extLst>
                    <a:ext uri="{9D8B030D-6E8A-4147-A177-3AD203B41FA5}">
                      <a16:colId xmlns:a16="http://schemas.microsoft.com/office/drawing/2014/main" val="3218760530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3943006004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1493616032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3991286774"/>
                    </a:ext>
                  </a:extLst>
                </a:gridCol>
                <a:gridCol w="212548">
                  <a:extLst>
                    <a:ext uri="{9D8B030D-6E8A-4147-A177-3AD203B41FA5}">
                      <a16:colId xmlns:a16="http://schemas.microsoft.com/office/drawing/2014/main" val="1607817202"/>
                    </a:ext>
                  </a:extLst>
                </a:gridCol>
              </a:tblGrid>
              <a:tr h="54983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Total scheduled</a:t>
                      </a:r>
                      <a:b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hours</a:t>
                      </a:r>
                    </a:p>
                    <a:p>
                      <a:pPr algn="ctr" fontAlgn="ctr"/>
                      <a:r>
                        <a:rPr lang="zh-CN" altLang="en-US" sz="600" baseline="0" dirty="0"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计划飞行总小时数</a:t>
                      </a:r>
                      <a:endParaRPr lang="en-US" sz="6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Hours flown so far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已完成飞行小时数</a:t>
                      </a:r>
                      <a:endParaRPr lang="en-US" sz="600" kern="120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Percentage </a:t>
                      </a:r>
                    </a:p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completed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完成百分比</a:t>
                      </a:r>
                      <a:endParaRPr lang="en-US" sz="6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Hours </a:t>
                      </a:r>
                      <a:r>
                        <a:rPr lang="en-US" altLang="zh-CN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to go</a:t>
                      </a:r>
                    </a:p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(some need to be repeated)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剩余小时数</a:t>
                      </a:r>
                      <a:endParaRPr lang="en-US" altLang="zh-CN" sz="600" kern="120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  <a:p>
                      <a:pPr marL="0" algn="ctr" defTabSz="958038" rtl="0" eaLnBrk="1" fontAlgn="ctr" latinLnBrk="0" hangingPunct="1"/>
                      <a:r>
                        <a:rPr 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部分需要重复进行</a:t>
                      </a:r>
                      <a:r>
                        <a:rPr 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600692"/>
                  </a:ext>
                </a:extLst>
              </a:tr>
              <a:tr h="36444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500:00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314:39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185:21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494274"/>
                  </a:ext>
                </a:extLst>
              </a:tr>
              <a:tr h="280514">
                <a:tc>
                  <a:txBody>
                    <a:bodyPr/>
                    <a:lstStyle/>
                    <a:p>
                      <a:pPr algn="l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1143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1143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11430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6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634130"/>
                  </a:ext>
                </a:extLst>
              </a:tr>
              <a:tr h="3299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Total task items</a:t>
                      </a:r>
                      <a:b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(FRQ's) scheduled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计划任务项（</a:t>
                      </a:r>
                      <a:r>
                        <a:rPr lang="en-US" altLang="zh-CN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FRQ)</a:t>
                      </a:r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总数</a:t>
                      </a:r>
                      <a:endParaRPr lang="en-US" sz="600" kern="120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FRQ's so far completed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目前已完成</a:t>
                      </a:r>
                      <a:endParaRPr lang="en-US" sz="600" kern="120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Percentage FRQ's </a:t>
                      </a:r>
                    </a:p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completed</a:t>
                      </a:r>
                    </a:p>
                    <a:p>
                      <a:pPr marL="0" algn="ctr" defTabSz="958038" rtl="0" eaLnBrk="1" fontAlgn="ctr" latinLnBrk="0" hangingPunct="1"/>
                      <a:r>
                        <a:rPr lang="zh-CN" altLang="en-US" sz="600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完成百分比</a:t>
                      </a:r>
                      <a:endParaRPr lang="en-US" sz="600" kern="1200" baseline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FRQ's started</a:t>
                      </a:r>
                    </a:p>
                    <a:p>
                      <a:pPr algn="ctr" fontAlgn="ctr"/>
                      <a:r>
                        <a:rPr lang="zh-CN" altLang="en-US" sz="6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已开始</a:t>
                      </a:r>
                      <a:endParaRPr lang="en-US" sz="600" b="0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54346"/>
                  </a:ext>
                </a:extLst>
              </a:tr>
              <a:tr h="28051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184951"/>
                  </a:ext>
                </a:extLst>
              </a:tr>
            </a:tbl>
          </a:graphicData>
        </a:graphic>
      </p:graphicFrame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C4D540CC-7987-0669-FA9B-EC7AB961A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347069"/>
              </p:ext>
            </p:extLst>
          </p:nvPr>
        </p:nvGraphicFramePr>
        <p:xfrm>
          <a:off x="19450" y="3986404"/>
          <a:ext cx="3709102" cy="778718"/>
        </p:xfrm>
        <a:graphic>
          <a:graphicData uri="http://schemas.openxmlformats.org/drawingml/2006/table">
            <a:tbl>
              <a:tblPr/>
              <a:tblGrid>
                <a:gridCol w="1524232">
                  <a:extLst>
                    <a:ext uri="{9D8B030D-6E8A-4147-A177-3AD203B41FA5}">
                      <a16:colId xmlns:a16="http://schemas.microsoft.com/office/drawing/2014/main" val="2280029806"/>
                    </a:ext>
                  </a:extLst>
                </a:gridCol>
                <a:gridCol w="1114527">
                  <a:extLst>
                    <a:ext uri="{9D8B030D-6E8A-4147-A177-3AD203B41FA5}">
                      <a16:colId xmlns:a16="http://schemas.microsoft.com/office/drawing/2014/main" val="2554911722"/>
                    </a:ext>
                  </a:extLst>
                </a:gridCol>
                <a:gridCol w="1070343">
                  <a:extLst>
                    <a:ext uri="{9D8B030D-6E8A-4147-A177-3AD203B41FA5}">
                      <a16:colId xmlns:a16="http://schemas.microsoft.com/office/drawing/2014/main" val="1257157249"/>
                    </a:ext>
                  </a:extLst>
                </a:gridCol>
              </a:tblGrid>
              <a:tr h="188780">
                <a:tc>
                  <a:txBody>
                    <a:bodyPr/>
                    <a:lstStyle/>
                    <a:p>
                      <a:pPr marL="0" algn="ctr" defTabSz="958038" rtl="0" eaLnBrk="1" fontAlgn="ctr" latinLnBrk="0" hangingPunct="1"/>
                      <a:r>
                        <a:rPr lang="en-US" sz="6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WEEKLY </a:t>
                      </a:r>
                      <a:r>
                        <a:rPr lang="zh-CN" altLang="en-US" sz="6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周度</a:t>
                      </a:r>
                      <a:endParaRPr lang="en-US" sz="600" b="1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/>
                      <a:r>
                        <a:rPr lang="en-US" sz="6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SN1003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/>
                      <a:r>
                        <a:rPr lang="en-US" sz="600" b="1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SN1004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29610"/>
                  </a:ext>
                </a:extLst>
              </a:tr>
              <a:tr h="2949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BLOCK TIME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Block</a:t>
                      </a:r>
                      <a:r>
                        <a:rPr lang="zh-CN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时间（滑出</a:t>
                      </a:r>
                      <a:r>
                        <a:rPr lang="en-US" altLang="zh-CN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-&gt;</a:t>
                      </a:r>
                      <a:r>
                        <a:rPr lang="zh-CN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滑入）</a:t>
                      </a:r>
                      <a:endParaRPr lang="en-US" sz="6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00:00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00:45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973283"/>
                  </a:ext>
                </a:extLst>
              </a:tr>
              <a:tr h="2949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TIME</a:t>
                      </a:r>
                    </a:p>
                    <a:p>
                      <a:pPr algn="ctr" fontAlgn="ctr"/>
                      <a:r>
                        <a:rPr lang="zh-CN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飞行时间（起飞</a:t>
                      </a:r>
                      <a:r>
                        <a:rPr lang="en-US" altLang="zh-CN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-&gt;</a:t>
                      </a:r>
                      <a:r>
                        <a:rPr lang="zh-CN" altLang="en-US" sz="6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着陆）</a:t>
                      </a:r>
                      <a:endParaRPr lang="en-US" sz="6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1143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00:00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00:00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4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05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7453F-3CD6-494F-EAE6-E5F1BF29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BDCF14-D103-9B77-854C-E06CF13A8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04419"/>
              </p:ext>
            </p:extLst>
          </p:nvPr>
        </p:nvGraphicFramePr>
        <p:xfrm>
          <a:off x="347135" y="1790734"/>
          <a:ext cx="10466090" cy="4026594"/>
        </p:xfrm>
        <a:graphic>
          <a:graphicData uri="http://schemas.openxmlformats.org/drawingml/2006/table">
            <a:tbl>
              <a:tblPr/>
              <a:tblGrid>
                <a:gridCol w="1700870">
                  <a:extLst>
                    <a:ext uri="{9D8B030D-6E8A-4147-A177-3AD203B41FA5}">
                      <a16:colId xmlns:a16="http://schemas.microsoft.com/office/drawing/2014/main" val="1381163544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1667661613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2990671692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1131359973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3559397867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191292737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CW 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Mon - 22/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Jun</a:t>
                      </a: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Tue - 23/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Jun</a:t>
                      </a: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Wed - 24/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Jun</a:t>
                      </a: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Thu - 25/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Jun</a:t>
                      </a: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Fri - 26/Jun/2026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739094"/>
                  </a:ext>
                </a:extLst>
              </a:tr>
              <a:tr h="12227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312790"/>
                  </a:ext>
                </a:extLst>
              </a:tr>
              <a:tr h="11196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16066"/>
                  </a:ext>
                </a:extLst>
              </a:tr>
              <a:tr h="12227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895540"/>
                  </a:ext>
                </a:extLst>
              </a:tr>
              <a:tr h="19370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endParaRPr lang="en-GB" sz="7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439778"/>
                  </a:ext>
                </a:extLst>
              </a:tr>
              <a:tr h="1222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27688"/>
                  </a:ext>
                </a:extLst>
              </a:tr>
              <a:tr h="2781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0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RMK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46207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0E6AC7E-81C5-8060-CA46-4346FC9C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Short Term Flight Test Plan SN1003</a:t>
            </a:r>
            <a:endParaRPr lang="x-non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0D8D7A-771A-38AC-737D-4A5BB93CA5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10"/>
          <a:stretch>
            <a:fillRect/>
          </a:stretch>
        </p:blipFill>
        <p:spPr>
          <a:xfrm>
            <a:off x="347135" y="818673"/>
            <a:ext cx="10466088" cy="8942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2D2D4D-1090-6D4C-6B4C-5D4A35891C5D}"/>
              </a:ext>
            </a:extLst>
          </p:cNvPr>
          <p:cNvSpPr/>
          <p:nvPr/>
        </p:nvSpPr>
        <p:spPr bwMode="auto">
          <a:xfrm rot="20387850">
            <a:off x="1821343" y="2483891"/>
            <a:ext cx="7761212" cy="12564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lang="de-DE" sz="20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Annual inspection activities have low </a:t>
            </a:r>
            <a:r>
              <a:rPr lang="en-US" sz="2000" dirty="0" err="1">
                <a:latin typeface="Arial" pitchFamily="34" charset="0"/>
              </a:rPr>
              <a:t>prioritiesis</a:t>
            </a:r>
            <a:r>
              <a:rPr lang="en-US" sz="2000" dirty="0">
                <a:latin typeface="Arial" pitchFamily="34" charset="0"/>
              </a:rPr>
              <a:t> due to </a:t>
            </a:r>
            <a:r>
              <a:rPr lang="en-US" sz="2000" dirty="0" err="1">
                <a:latin typeface="Arial" pitchFamily="34" charset="0"/>
              </a:rPr>
              <a:t>enforeced</a:t>
            </a:r>
            <a:r>
              <a:rPr lang="en-US" sz="2000" dirty="0">
                <a:latin typeface="Arial" pitchFamily="34" charset="0"/>
              </a:rPr>
              <a:t> downtime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caused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by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ADAU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repair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and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decision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not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to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fly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由于</a:t>
            </a:r>
            <a:r>
              <a:rPr lang="en-US" altLang="zh-CN" sz="2000" dirty="0"/>
              <a:t>ADAU</a:t>
            </a:r>
            <a:r>
              <a:rPr lang="zh-CN" altLang="en-US" sz="2000" dirty="0"/>
              <a:t>维修导致的强制停飞以及不飞行的决定，年检各项活动的优先级较低</a:t>
            </a:r>
            <a:endParaRPr lang="de-DE" sz="14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74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515AB48-97B2-9E03-6509-FF11651AB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634049"/>
              </p:ext>
            </p:extLst>
          </p:nvPr>
        </p:nvGraphicFramePr>
        <p:xfrm>
          <a:off x="347135" y="1790734"/>
          <a:ext cx="10466090" cy="4026594"/>
        </p:xfrm>
        <a:graphic>
          <a:graphicData uri="http://schemas.openxmlformats.org/drawingml/2006/table">
            <a:tbl>
              <a:tblPr/>
              <a:tblGrid>
                <a:gridCol w="1700870">
                  <a:extLst>
                    <a:ext uri="{9D8B030D-6E8A-4147-A177-3AD203B41FA5}">
                      <a16:colId xmlns:a16="http://schemas.microsoft.com/office/drawing/2014/main" val="1381163544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1667661613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2990671692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1131359973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3559397867"/>
                    </a:ext>
                  </a:extLst>
                </a:gridCol>
                <a:gridCol w="1753044">
                  <a:extLst>
                    <a:ext uri="{9D8B030D-6E8A-4147-A177-3AD203B41FA5}">
                      <a16:colId xmlns:a16="http://schemas.microsoft.com/office/drawing/2014/main" val="191292737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CW 27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/>
                      <a:r>
                        <a:rPr lang="zh-CN" altLang="en-US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周一 </a:t>
                      </a:r>
                      <a:r>
                        <a:rPr lang="en-US" altLang="zh-CN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- 29/6</a:t>
                      </a:r>
                      <a:r>
                        <a:rPr lang="zh-CN" altLang="en-US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周二 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- 30/6</a:t>
                      </a:r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月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周三 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- 01/7</a:t>
                      </a:r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月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周四 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- 02/7</a:t>
                      </a:r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月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周五 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- 03/7</a:t>
                      </a:r>
                      <a:r>
                        <a:rPr lang="zh-CN" altLang="en-US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月</a:t>
                      </a:r>
                      <a:r>
                        <a:rPr lang="en-US" altLang="zh-CN" sz="700" b="1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739094"/>
                  </a:ext>
                </a:extLst>
              </a:tr>
              <a:tr h="12227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CN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GB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312790"/>
                  </a:ext>
                </a:extLst>
              </a:tr>
              <a:tr h="11196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25FH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50FH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100FH Inspection (75%)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200FH Inspection (75%)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25/50/100/200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小时定检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75%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 and Emergency Battery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(95%) (will be finished before flight)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主电池及应急电池维护（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95%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飞行前完成</a:t>
                      </a:r>
                      <a:r>
                        <a:rPr kumimoji="0" lang="en-US" altLang="zh-CN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Scheduled Maintenance 1 Year Interval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</a:t>
                      </a:r>
                      <a: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(35%)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年度计划维护</a:t>
                      </a:r>
                      <a:r>
                        <a:rPr lang="en-US" altLang="zh-CN" sz="7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(35%)</a:t>
                      </a: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216066"/>
                  </a:ext>
                </a:extLst>
              </a:tr>
              <a:tr h="12227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895540"/>
                  </a:ext>
                </a:extLst>
              </a:tr>
              <a:tr h="19370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FDR </a:t>
                      </a:r>
                      <a:r>
                        <a:rPr lang="en-GB" sz="700" b="1" i="0" u="none" strike="noStrike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Accel</a:t>
                      </a: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Parameter - WOT 532 (0% - missing ADAU)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FDR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加速度参数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WOT 532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TCAS Wiring Update - WOT 536 (0%- missing ADAU)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TCAS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接线更新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536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，缺少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ADAU)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Air/water tightness - WOT 524 (0%)</a:t>
                      </a:r>
                    </a:p>
                    <a:p>
                      <a:pPr algn="ctr" fontAlgn="ctr">
                        <a:buNone/>
                      </a:pP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气密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水密性检查 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– </a:t>
                      </a: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524 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EEM and MHAM Replacement - WOT 551 (waiting for material)</a:t>
                      </a:r>
                    </a:p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GB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EMM</a:t>
                      </a:r>
                      <a:r>
                        <a:rPr lang="zh-CN" altLang="en-GB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和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MHAM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替换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en-US" altLang="zh-CN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WOT 551</a:t>
                      </a:r>
                      <a:r>
                        <a:rPr lang="zh-CN" altLang="en-US" sz="70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（等待物料）</a:t>
                      </a:r>
                      <a:br>
                        <a:rPr lang="en-GB" sz="700" b="1" i="0" u="none" strike="noStrike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Seat Re-installation (0%</a:t>
                      </a:r>
                      <a:r>
                        <a:rPr lang="en-US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,</a:t>
                      </a:r>
                      <a:r>
                        <a:rPr lang="en-US" sz="700" b="1" i="0" u="none" strike="noStrike" kern="1200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 will be finished after inspection</a:t>
                      </a:r>
                      <a:r>
                        <a:rPr lang="en-GB" sz="700" b="1" i="0" u="none" strike="noStrike" kern="120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FTE 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座椅重新安装</a:t>
                      </a:r>
                      <a:r>
                        <a:rPr kumimoji="0" lang="en-US" altLang="zh-CN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(0%</a:t>
                      </a:r>
                      <a:r>
                        <a:rPr kumimoji="0" lang="zh-CN" altLang="en-US" sz="7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，将在检查后完成）</a:t>
                      </a: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endParaRPr lang="en-GB" sz="700" b="1" i="0" u="none" strike="noStrike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439778"/>
                  </a:ext>
                </a:extLst>
              </a:tr>
              <a:tr h="1222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7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SimSun-ExtB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27688"/>
                  </a:ext>
                </a:extLst>
              </a:tr>
              <a:tr h="2781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700" b="0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RMK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700" b="0" i="0" u="none" strike="noStrike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46207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B9449C-3746-6F47-7332-5390E8DC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Short Term Flight Test Plan SN1003</a:t>
            </a:r>
            <a:endParaRPr lang="x-non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48F2F7-7F6C-587E-0647-AAE96552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10"/>
          <a:stretch>
            <a:fillRect/>
          </a:stretch>
        </p:blipFill>
        <p:spPr>
          <a:xfrm>
            <a:off x="347135" y="818673"/>
            <a:ext cx="10466088" cy="89429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84B88D-BED5-2D81-D4CC-EE48BE5CA683}"/>
              </a:ext>
            </a:extLst>
          </p:cNvPr>
          <p:cNvSpPr/>
          <p:nvPr/>
        </p:nvSpPr>
        <p:spPr bwMode="auto">
          <a:xfrm rot="20387850">
            <a:off x="1821343" y="2483891"/>
            <a:ext cx="7761212" cy="12564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lang="de-DE" sz="20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Annual inspection activities have low </a:t>
            </a:r>
            <a:r>
              <a:rPr lang="en-US" sz="2000" dirty="0" err="1">
                <a:latin typeface="Arial" pitchFamily="34" charset="0"/>
              </a:rPr>
              <a:t>prioritiesis</a:t>
            </a:r>
            <a:r>
              <a:rPr lang="en-US" sz="2000" dirty="0">
                <a:latin typeface="Arial" pitchFamily="34" charset="0"/>
              </a:rPr>
              <a:t> due to </a:t>
            </a:r>
            <a:r>
              <a:rPr lang="en-US" sz="2000" dirty="0" err="1">
                <a:latin typeface="Arial" pitchFamily="34" charset="0"/>
              </a:rPr>
              <a:t>enforeced</a:t>
            </a:r>
            <a:r>
              <a:rPr lang="en-US" sz="2000" dirty="0">
                <a:latin typeface="Arial" pitchFamily="34" charset="0"/>
              </a:rPr>
              <a:t> downtime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caused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by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ADAU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repair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and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decision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not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to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fly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由于</a:t>
            </a:r>
            <a:r>
              <a:rPr lang="en-US" altLang="zh-CN" sz="2000" dirty="0"/>
              <a:t>ADAU</a:t>
            </a:r>
            <a:r>
              <a:rPr lang="zh-CN" altLang="en-US" sz="2000" dirty="0"/>
              <a:t>维修导致的强制停飞以及不飞行的决定，年检各项活动的优先级较低</a:t>
            </a:r>
            <a:endParaRPr lang="de-DE" sz="14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0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30F2-4926-45CF-4870-08A9ADA1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D0F4F1-6C0B-F3C4-F619-3E5DE69C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Short Term Flight Test Plan SN1004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8EA26-DC8A-A414-E8B5-41BB6175FD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67"/>
          <a:stretch>
            <a:fillRect/>
          </a:stretch>
        </p:blipFill>
        <p:spPr>
          <a:xfrm>
            <a:off x="334434" y="680625"/>
            <a:ext cx="11138165" cy="89412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671654"/>
              </p:ext>
            </p:extLst>
          </p:nvPr>
        </p:nvGraphicFramePr>
        <p:xfrm>
          <a:off x="334434" y="1757631"/>
          <a:ext cx="11138165" cy="2470942"/>
        </p:xfrm>
        <a:graphic>
          <a:graphicData uri="http://schemas.openxmlformats.org/drawingml/2006/table">
            <a:tbl>
              <a:tblPr/>
              <a:tblGrid>
                <a:gridCol w="1810090">
                  <a:extLst>
                    <a:ext uri="{9D8B030D-6E8A-4147-A177-3AD203B41FA5}">
                      <a16:colId xmlns:a16="http://schemas.microsoft.com/office/drawing/2014/main" val="1283782563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4003853008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157281888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3914364695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3291352512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215975366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CW 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周一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- 22/6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周二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- 23/6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周三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- 24/6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周四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- 25/6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周五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- 26/6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663726"/>
                  </a:ext>
                </a:extLst>
              </a:tr>
              <a:tr h="1458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63626"/>
                  </a:ext>
                </a:extLst>
              </a:tr>
              <a:tr h="5689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 Check Flight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with Emergency LDG Extension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维修检查试飞（含起落架应急放）</a:t>
                      </a:r>
                      <a:endParaRPr lang="en-US" altLang="zh-CN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[MAS/KON]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LFTE:CCK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SW Content Freeze</a:t>
                      </a: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软件内容冻结</a:t>
                      </a:r>
                      <a:endParaRPr lang="en-US" altLang="zh-CN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[MAS/KAI]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LFTE:HEN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SW Content Freeze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软件内容冻结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[MAS/KAI]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LFTE:MCS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Avionics Certification for SW Content Freeze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为支持软件内容冻结而进行的航电系统认证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[MAS/KON]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LFTE:STP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Dual FMS SW Content Freeze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双飞行管理系统软件内容冻结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MCS</a:t>
                      </a:r>
                    </a:p>
                    <a:p>
                      <a:pPr algn="ctr" fontAlgn="ctr"/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066359"/>
                  </a:ext>
                </a:extLst>
              </a:tr>
              <a:tr h="145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707723"/>
                  </a:ext>
                </a:extLst>
              </a:tr>
              <a:tr h="1458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7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0896"/>
                  </a:ext>
                </a:extLst>
              </a:tr>
              <a:tr h="5443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Emergency Reset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WOT-200-400.130 FTE Seat Installation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应急重置</a:t>
                      </a:r>
                      <a:endParaRPr lang="en-US" altLang="zh-CN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WOT-200-400.130 </a:t>
                      </a:r>
                      <a:r>
                        <a:rPr lang="en-US" altLang="zh-CN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FTE</a:t>
                      </a:r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座椅安装</a:t>
                      </a:r>
                      <a:endParaRPr lang="en-US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SW Content Freeze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软件内容冻结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[MAS/KAI]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</a:t>
                      </a:r>
                      <a:r>
                        <a:rPr lang="en-US" altLang="zh-CN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STP</a:t>
                      </a:r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SW Content Freeze 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软件内容冻结</a:t>
                      </a:r>
                      <a:endParaRPr lang="en-US" altLang="zh-CN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[MAS/KAI]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LFTE:HTR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WOT-200-400.139 Dual FMS</a:t>
                      </a:r>
                      <a:b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 err="1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Hyd</a:t>
                      </a:r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 DPI change</a:t>
                      </a:r>
                    </a:p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WOT-200-400.139 </a:t>
                      </a:r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双飞行管理系统</a:t>
                      </a:r>
                      <a:endParaRPr lang="en-US" altLang="zh-CN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液压压差指示器更换</a:t>
                      </a:r>
                      <a:endParaRPr lang="en-US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HYD Filter Change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液压过滤器更换</a:t>
                      </a:r>
                      <a:endParaRPr lang="en-US" sz="700" b="1" i="0" u="none" strike="noStrike" baseline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261782"/>
                  </a:ext>
                </a:extLst>
              </a:tr>
              <a:tr h="1458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Ground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地面测试已执行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 Executed</a:t>
                      </a:r>
                      <a:r>
                        <a:rPr lang="zh-CN" altLang="en-US" sz="700" b="1" i="0" u="none" strike="noStrike" baseline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飞行测试已执行</a:t>
                      </a:r>
                      <a:endParaRPr lang="en-US" sz="700" b="1" i="0" u="none" strike="noStrike" baseline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697397"/>
                  </a:ext>
                </a:extLst>
              </a:tr>
              <a:tr h="48763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RMK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(No FTE on board during flight)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Chase [TRK/HEN]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（试飞期间机上无试飞工程师）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伴飞飞机</a:t>
                      </a: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[TRK/HEN]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ICS Certification tests are completed</a:t>
                      </a:r>
                    </a:p>
                    <a:p>
                      <a:pPr algn="ctr" fontAlgn="ctr"/>
                      <a:r>
                        <a:rPr lang="en-US" altLang="zh-CN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ICS</a:t>
                      </a: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认证测试已完成</a:t>
                      </a:r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VHF Com short range tests are partially completed</a:t>
                      </a:r>
                    </a:p>
                    <a:p>
                      <a:pPr algn="ctr" fontAlgn="ctr"/>
                      <a:r>
                        <a:rPr lang="en-US" altLang="zh-CN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VHF</a:t>
                      </a:r>
                      <a:r>
                        <a:rPr lang="zh-CN" alt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通信短距测试已部分完成</a:t>
                      </a:r>
                      <a:endParaRPr lang="en-US" sz="700" b="1" i="0" u="none" strike="noStrike" baseline="0" dirty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Data Evaluation for checking if additional TPs are required for Content Freeze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进行数据评估，以确定内容冻结是否需要增加额外的测试点</a:t>
                      </a:r>
                      <a:endParaRPr lang="en-US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621386"/>
                  </a:ext>
                </a:extLst>
              </a:tr>
              <a:tr h="980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211271"/>
                  </a:ext>
                </a:extLst>
              </a:tr>
            </a:tbl>
          </a:graphicData>
        </a:graphic>
      </p:graphicFrame>
      <p:sp>
        <p:nvSpPr>
          <p:cNvPr id="5" name="Rectangle 7">
            <a:extLst>
              <a:ext uri="{FF2B5EF4-FFF2-40B4-BE49-F238E27FC236}">
                <a16:creationId xmlns:a16="http://schemas.microsoft.com/office/drawing/2014/main" id="{EB214562-E6FB-CDB6-F60A-DFA95F04EADF}"/>
              </a:ext>
            </a:extLst>
          </p:cNvPr>
          <p:cNvSpPr/>
          <p:nvPr/>
        </p:nvSpPr>
        <p:spPr bwMode="auto">
          <a:xfrm rot="20387850">
            <a:off x="1821343" y="2483891"/>
            <a:ext cx="7761212" cy="12564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lang="de-DE" sz="20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Annual inspection activities have low </a:t>
            </a:r>
            <a:r>
              <a:rPr lang="en-US" sz="2000" dirty="0" err="1">
                <a:latin typeface="Arial" pitchFamily="34" charset="0"/>
              </a:rPr>
              <a:t>prioritiesis</a:t>
            </a:r>
            <a:r>
              <a:rPr lang="en-US" sz="2000" dirty="0">
                <a:latin typeface="Arial" pitchFamily="34" charset="0"/>
              </a:rPr>
              <a:t> due to </a:t>
            </a:r>
            <a:r>
              <a:rPr lang="en-US" sz="2000" dirty="0" err="1">
                <a:latin typeface="Arial" pitchFamily="34" charset="0"/>
              </a:rPr>
              <a:t>enforeced</a:t>
            </a:r>
            <a:r>
              <a:rPr lang="en-US" sz="2000" dirty="0">
                <a:latin typeface="Arial" pitchFamily="34" charset="0"/>
              </a:rPr>
              <a:t> downtime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caused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by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ADAU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repair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and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decision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not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to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fly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由于</a:t>
            </a:r>
            <a:r>
              <a:rPr lang="en-US" altLang="zh-CN" sz="2000" dirty="0"/>
              <a:t>ADAU</a:t>
            </a:r>
            <a:r>
              <a:rPr lang="zh-CN" altLang="en-US" sz="2000" dirty="0"/>
              <a:t>维修导致的强制停飞以及不飞行的决定，年检各项活动的优先级较低</a:t>
            </a:r>
            <a:endParaRPr lang="de-DE" sz="14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4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8583-20D5-1179-59C2-93187768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39F822-EACF-9B61-D51B-35690D09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Term Flight Test Plan SN1004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EC0E2-CF96-B414-701D-DC3496AF41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67"/>
          <a:stretch>
            <a:fillRect/>
          </a:stretch>
        </p:blipFill>
        <p:spPr>
          <a:xfrm>
            <a:off x="334434" y="680625"/>
            <a:ext cx="11138165" cy="89412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CB7157-7A98-A840-9289-82D06DD34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271038"/>
              </p:ext>
            </p:extLst>
          </p:nvPr>
        </p:nvGraphicFramePr>
        <p:xfrm>
          <a:off x="334434" y="1818929"/>
          <a:ext cx="11138165" cy="2734117"/>
        </p:xfrm>
        <a:graphic>
          <a:graphicData uri="http://schemas.openxmlformats.org/drawingml/2006/table">
            <a:tbl>
              <a:tblPr/>
              <a:tblGrid>
                <a:gridCol w="1810090">
                  <a:extLst>
                    <a:ext uri="{9D8B030D-6E8A-4147-A177-3AD203B41FA5}">
                      <a16:colId xmlns:a16="http://schemas.microsoft.com/office/drawing/2014/main" val="3553463383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3688429070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1889403734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3926712429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2422819543"/>
                    </a:ext>
                  </a:extLst>
                </a:gridCol>
                <a:gridCol w="1865615">
                  <a:extLst>
                    <a:ext uri="{9D8B030D-6E8A-4147-A177-3AD203B41FA5}">
                      <a16:colId xmlns:a16="http://schemas.microsoft.com/office/drawing/2014/main" val="377316696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CW 27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周一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- 29/6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周二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- 30/6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周三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- 01/7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周四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- 02/7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038" rtl="0" eaLnBrk="1" fontAlgn="ctr" latinLnBrk="0" hangingPunct="1">
                        <a:buNone/>
                      </a:pP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周五 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- 03/7</a:t>
                      </a:r>
                      <a:r>
                        <a:rPr lang="zh-CN" altLang="en-US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月</a:t>
                      </a:r>
                      <a:r>
                        <a:rPr lang="en-US" altLang="zh-CN" sz="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  <a:cs typeface="+mn-cs"/>
                        </a:rPr>
                        <a:t>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950001"/>
                  </a:ext>
                </a:extLst>
              </a:tr>
              <a:tr h="14311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881294"/>
                  </a:ext>
                </a:extLst>
              </a:tr>
              <a:tr h="5607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SW Content Freeze Repetition Items</a:t>
                      </a:r>
                      <a:b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软件内容冻结重复项</a:t>
                      </a:r>
                      <a:endParaRPr lang="en-US" altLang="zh-CN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HTR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Avionics Certification for SW Content Freeze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为支持软件内容冻结而进行的航电系统认证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STP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Avionics Certification for SW Content Freeze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为支持软件内容冻结而进行的航电系统认证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STP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Stall Spot Check Items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(AFT CG)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失速特性抽查测试项（后重心构型）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TRK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BACK UP Flight Test Slot for Stall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失速测试备用试飞时段</a:t>
                      </a:r>
                      <a:endParaRPr lang="en-US" sz="700" b="1" i="0" u="none" strike="noStrike" baseline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endParaRPr lang="en-US" sz="700" b="1" i="0" u="none" strike="noStrike" baseline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704208"/>
                  </a:ext>
                </a:extLst>
              </a:tr>
              <a:tr h="109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816283"/>
                  </a:ext>
                </a:extLst>
              </a:tr>
              <a:tr h="14311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0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Maintenance</a:t>
                      </a:r>
                      <a:r>
                        <a:rPr lang="zh-CN" altLang="en-US" sz="7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维护</a:t>
                      </a:r>
                      <a:endParaRPr lang="en-US" sz="7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 Implementation </a:t>
                      </a:r>
                      <a:r>
                        <a:rPr lang="en-US" altLang="zh-CN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WOT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执行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7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Flight Test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飞行测试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Paperwork</a:t>
                      </a:r>
                      <a:r>
                        <a:rPr lang="zh-CN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文件材料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077170"/>
                  </a:ext>
                </a:extLst>
              </a:tr>
              <a:tr h="6082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10FH Inspection</a:t>
                      </a:r>
                      <a:b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FTE Seat Removal</a:t>
                      </a:r>
                    </a:p>
                    <a:p>
                      <a:pPr algn="ctr" fontAlgn="ctr"/>
                      <a:r>
                        <a:rPr 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10</a:t>
                      </a:r>
                      <a:r>
                        <a:rPr lang="zh-CN" alt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飞行小时检查</a:t>
                      </a:r>
                      <a:endParaRPr lang="en-US" altLang="zh-CN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en-US" altLang="zh-CN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FTE</a:t>
                      </a:r>
                      <a:r>
                        <a:rPr lang="zh-CN" altLang="en-US" sz="700" b="1" i="0" u="none" strike="noStrike" baseline="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座椅移除</a:t>
                      </a:r>
                      <a:endParaRPr lang="en-US" sz="700" b="1" i="0" u="none" strike="noStrike" baseline="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Avionics Certification for SW Content Freeze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为支持软件内容冻结而进行的航电系统认证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STP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FTE Seat Installation</a:t>
                      </a:r>
                      <a:br>
                        <a:rPr lang="sv-SE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sv-SE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Ballast Installation</a:t>
                      </a:r>
                    </a:p>
                    <a:p>
                      <a:pPr algn="ctr" fontAlgn="ctr"/>
                      <a:r>
                        <a:rPr lang="en-US" altLang="zh-CN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FTE</a:t>
                      </a:r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座椅安装</a:t>
                      </a:r>
                      <a:endParaRPr lang="en-US" altLang="zh-CN" sz="700" b="1" i="0" u="none" strike="noStrike" baseline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配重安装</a:t>
                      </a:r>
                      <a:endParaRPr lang="sv-SE" sz="700" b="1" i="0" u="none" strike="noStrike" baseline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Stall Spot Check Items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(AFT CG)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失速特性抽查测试项（后重心构型）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[KAI/KON]</a:t>
                      </a:r>
                      <a:b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LFTE: CCK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Data Evaluation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数据评估</a:t>
                      </a:r>
                      <a:endParaRPr lang="en-US" sz="700" b="1" i="0" u="none" strike="noStrike" baseline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565104"/>
                  </a:ext>
                </a:extLst>
              </a:tr>
              <a:tr h="1098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965680"/>
                  </a:ext>
                </a:extLst>
              </a:tr>
              <a:tr h="5494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RMK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XPDR&amp;VOR Flights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(No FTE on board)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应答机</a:t>
                      </a:r>
                      <a:r>
                        <a:rPr lang="en-US" altLang="zh-CN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(XPDR)</a:t>
                      </a: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及甚高频全向信标</a:t>
                      </a:r>
                      <a:r>
                        <a:rPr lang="en-US" altLang="zh-CN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(VOR)</a:t>
                      </a: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飞行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（机上无试飞工程师）</a:t>
                      </a:r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XPDR Flight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(No FTE on board)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应答机飞行</a:t>
                      </a:r>
                      <a:endParaRPr lang="en-US" altLang="zh-CN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（机上无试飞工程师）</a:t>
                      </a:r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  <a:p>
                      <a:pPr algn="ctr" fontAlgn="ctr"/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Chase [CCK/MCS]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Chase [TRK/HTR]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伴飞飞机</a:t>
                      </a: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[CCK/MCS]</a:t>
                      </a:r>
                      <a:b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</a:br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伴飞飞机</a:t>
                      </a:r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[TRK/HTR]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149327"/>
                  </a:ext>
                </a:extLst>
              </a:tr>
              <a:tr h="3296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Overnight stay may be required at the airport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可能需要在机场过夜</a:t>
                      </a:r>
                      <a:endParaRPr lang="en-US" sz="700" b="1" i="0" u="none" strike="noStrike" baseline="0">
                        <a:effectLst/>
                        <a:latin typeface="Arial" panose="020B0604020202020204" pitchFamily="34" charset="0"/>
                        <a:ea typeface="SimSun-ExtB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baseline="0" dirty="0">
                          <a:effectLst/>
                          <a:latin typeface="Arial" panose="020B0604020202020204" pitchFamily="34" charset="0"/>
                          <a:ea typeface="SimSun-ExtB" panose="02010609060101010101" pitchFamily="49" charset="-12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100104"/>
                  </a:ext>
                </a:extLst>
              </a:tr>
            </a:tbl>
          </a:graphicData>
        </a:graphic>
      </p:graphicFrame>
      <p:sp>
        <p:nvSpPr>
          <p:cNvPr id="5" name="Rectangle 7">
            <a:extLst>
              <a:ext uri="{FF2B5EF4-FFF2-40B4-BE49-F238E27FC236}">
                <a16:creationId xmlns:a16="http://schemas.microsoft.com/office/drawing/2014/main" id="{19552035-E8CB-DF2E-D1C7-C8E7225C8C53}"/>
              </a:ext>
            </a:extLst>
          </p:cNvPr>
          <p:cNvSpPr/>
          <p:nvPr/>
        </p:nvSpPr>
        <p:spPr bwMode="auto">
          <a:xfrm rot="20387850">
            <a:off x="1821343" y="2483891"/>
            <a:ext cx="7761212" cy="12564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lang="de-DE" sz="20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Arial" pitchFamily="34" charset="0"/>
              </a:rPr>
              <a:t>Annual inspection activities have low </a:t>
            </a:r>
            <a:r>
              <a:rPr lang="en-US" sz="2000" dirty="0" err="1">
                <a:latin typeface="Arial" pitchFamily="34" charset="0"/>
              </a:rPr>
              <a:t>prioritiesis</a:t>
            </a:r>
            <a:r>
              <a:rPr lang="en-US" sz="2000" dirty="0">
                <a:latin typeface="Arial" pitchFamily="34" charset="0"/>
              </a:rPr>
              <a:t> due to </a:t>
            </a:r>
            <a:r>
              <a:rPr lang="en-US" sz="2000" dirty="0" err="1">
                <a:latin typeface="Arial" pitchFamily="34" charset="0"/>
              </a:rPr>
              <a:t>enforeced</a:t>
            </a:r>
            <a:r>
              <a:rPr lang="en-US" sz="2000" dirty="0">
                <a:latin typeface="Arial" pitchFamily="34" charset="0"/>
              </a:rPr>
              <a:t> downtime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caused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by</a:t>
            </a:r>
            <a:r>
              <a:rPr kumimoji="0" lang="de-DE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ADAU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repair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and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decision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not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to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de-DE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fly</a:t>
            </a:r>
            <a:r>
              <a:rPr kumimoji="0" lang="de-DE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/>
              <a:t>由于</a:t>
            </a:r>
            <a:r>
              <a:rPr lang="en-US" altLang="zh-CN" sz="2000" dirty="0"/>
              <a:t>ADAU</a:t>
            </a:r>
            <a:r>
              <a:rPr lang="zh-CN" altLang="en-US" sz="2000" dirty="0"/>
              <a:t>维修导致的强制停飞以及不飞行的决定，年检各项活动的优先级较低</a:t>
            </a:r>
            <a:endParaRPr lang="de-DE" sz="1400" dirty="0">
              <a:latin typeface="Arial" pitchFamily="34" charset="0"/>
            </a:endParaRPr>
          </a:p>
          <a:p>
            <a:pPr algn="ctr" defTabSz="1041400" fontAlgn="base">
              <a:spcBef>
                <a:spcPct val="0"/>
              </a:spcBef>
              <a:spcAft>
                <a:spcPct val="0"/>
              </a:spcAft>
            </a:pPr>
            <a:endParaRPr kumimoji="0" lang="de-D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1523"/>
      </p:ext>
    </p:extLst>
  </p:cSld>
  <p:clrMapOvr>
    <a:masterClrMapping/>
  </p:clrMapOvr>
</p:sld>
</file>

<file path=ppt/theme/theme1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41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41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E8401FAEA8042AF47B09044C84D90" ma:contentTypeVersion="6" ma:contentTypeDescription="Create a new document." ma:contentTypeScope="" ma:versionID="892ad7bdf5037dd3c604fbe256f0fbb2">
  <xsd:schema xmlns:xsd="http://www.w3.org/2001/XMLSchema" xmlns:xs="http://www.w3.org/2001/XMLSchema" xmlns:p="http://schemas.microsoft.com/office/2006/metadata/properties" xmlns:ns3="14c025ce-7690-4c0f-ae28-679e1c5aeed9" targetNamespace="http://schemas.microsoft.com/office/2006/metadata/properties" ma:root="true" ma:fieldsID="eb7f041b32a0957287b1747502f32f28" ns3:_="">
    <xsd:import namespace="14c025ce-7690-4c0f-ae28-679e1c5aeed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c025ce-7690-4c0f-ae28-679e1c5aeed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c025ce-7690-4c0f-ae28-679e1c5aeed9" xsi:nil="true"/>
  </documentManagement>
</p:properties>
</file>

<file path=customXml/itemProps1.xml><?xml version="1.0" encoding="utf-8"?>
<ds:datastoreItem xmlns:ds="http://schemas.openxmlformats.org/officeDocument/2006/customXml" ds:itemID="{6B3E5FA7-61F1-4BD5-9530-6C2C331F24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1BABB1-4EA5-4914-A207-CA30C0D9B258}">
  <ds:schemaRefs>
    <ds:schemaRef ds:uri="14c025ce-7690-4c0f-ae28-679e1c5aee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B94463C-3F38-4D7A-AA0F-BA4C3DE3BF31}">
  <ds:schemaRefs>
    <ds:schemaRef ds:uri="http://purl.org/dc/terms/"/>
    <ds:schemaRef ds:uri="14c025ce-7690-4c0f-ae28-679e1c5aeed9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4057</Words>
  <Application>Microsoft Office PowerPoint</Application>
  <PresentationFormat>宽屏</PresentationFormat>
  <Paragraphs>510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Wingdings</vt:lpstr>
      <vt:lpstr>1_Standarddesign</vt:lpstr>
      <vt:lpstr>Weekly Status Report  CW26 </vt:lpstr>
      <vt:lpstr>Content</vt:lpstr>
      <vt:lpstr>Weekly Highlights / Lowlights</vt:lpstr>
      <vt:lpstr>Status SN1002/ SN1003/ SN1004</vt:lpstr>
      <vt:lpstr>Flight Test Program Progress</vt:lpstr>
      <vt:lpstr>Short Term Flight Test Plan SN1003</vt:lpstr>
      <vt:lpstr>Short Term Flight Test Plan SN1003</vt:lpstr>
      <vt:lpstr>Short Term Flight Test Plan SN1004</vt:lpstr>
      <vt:lpstr>Short Term Flight Test Plan SN1004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report</dc:title>
  <dc:creator>Pfau, Reinald;CK</dc:creator>
  <cp:lastModifiedBy>Glenn CHOU</cp:lastModifiedBy>
  <cp:revision>4</cp:revision>
  <cp:lastPrinted>2024-11-28T08:29:13Z</cp:lastPrinted>
  <dcterms:created xsi:type="dcterms:W3CDTF">2024-09-17T11:22:30Z</dcterms:created>
  <dcterms:modified xsi:type="dcterms:W3CDTF">2026-07-07T00:50:12Z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0x010100173E8401FAEA8042AF47B09044C84D90</vt:lpwstr>
  </property>
</Properties>
</file>